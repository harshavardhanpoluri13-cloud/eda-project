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5"/>
  </p:notesMasterIdLst>
  <p:sldIdLst>
    <p:sldId id="256" r:id="rId3"/>
    <p:sldId id="279" r:id="rId4"/>
    <p:sldId id="258" r:id="rId5"/>
    <p:sldId id="259" r:id="rId6"/>
    <p:sldId id="261" r:id="rId7"/>
    <p:sldId id="262" r:id="rId8"/>
    <p:sldId id="260"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boldItalic r:id="rId31"/>
    </p:embeddedFont>
    <p:embeddedFont>
      <p:font typeface="Roboto Mono" panose="00000009000000000000"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999ff6833_2_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37" name="Google Shape;137;g3a999ff6833_2_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999ff6833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3a999ff6833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9bfdf6c02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a9bfdf6c0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9bfdf6c02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3a9bfdf6c02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9bfdf6c02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a9bfdf6c02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a9f54ea8ab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a9f54ea8a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a9bfdf6c02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3a9bfdf6c02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9bfdf6c02_1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3a9bfdf6c02_1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9bfdf6c02_1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a9bfdf6c02_1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9bfdf6c02_1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a9bfdf6c02_1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a9bfdf6c02_1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a9bfdf6c02_1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9bfdf6c02_1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3a9bfdf6c02_1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9bfdf6c02_1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g3a9bfdf6c02_1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9bfdf6c02_1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a9bfdf6c02_1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9bfdf6c02_1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a9bfdf6c02_1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9bfdf6c02_1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g3a9bfdf6c02_1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a9bfdf6c02_1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g3a9bfdf6c02_1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9f54ea8ab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a9f54ea8a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a9f54ea8ab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a9f54ea8ab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a9f54ea8ab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3a9f54ea8ab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a999ff6833_2_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82" name="Google Shape;282;g3a999ff6833_2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61" name="Google Shape;61;p14"/>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 name="Google Shape;65;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66" name="Google Shape;66;p15"/>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16"/>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0" name="Google Shape;70;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73" name="Google Shape;73;p16"/>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7"/>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80" name="Google Shape;80;p17"/>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4" name="Google Shape;84;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87" name="Google Shape;87;p18"/>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95" name="Google Shape;95;p19"/>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9" name="Google Shape;99;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0" name="Google Shape;100;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1" name="Google Shape;101;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2" name="Google Shape;102;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3" name="Google Shape;103;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05" name="Google Shape;105;p20"/>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9" name="Google Shape;109;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13" name="Google Shape;113;p21"/>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6" name="Google Shape;116;p22"/>
          <p:cNvSpPr>
            <a:spLocks noGrp="1"/>
          </p:cNvSpPr>
          <p:nvPr>
            <p:ph type="pic" idx="2"/>
          </p:nvPr>
        </p:nvSpPr>
        <p:spPr>
          <a:xfrm>
            <a:off x="3887391" y="740569"/>
            <a:ext cx="4629150" cy="3655219"/>
          </a:xfrm>
          <a:prstGeom prst="rect">
            <a:avLst/>
          </a:prstGeom>
          <a:noFill/>
          <a:ln>
            <a:noFill/>
          </a:ln>
        </p:spPr>
      </p:sp>
      <p:sp>
        <p:nvSpPr>
          <p:cNvPr id="117" name="Google Shape;117;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8" name="Google Shape;118;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0" name="Google Shape;120;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21" name="Google Shape;121;p22"/>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5" name="Google Shape;125;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6" name="Google Shape;126;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28" name="Google Shape;128;p23"/>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4"/>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EDA%20PPT.pptx" TargetMode="External"/><Relationship Id="rId2" Type="http://schemas.openxmlformats.org/officeDocument/2006/relationships/hyperlink" Target="https://github.com/harshavardhanpoluri13-cloud" TargetMode="Externa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5"/>
          <p:cNvPicPr preferRelativeResize="0"/>
          <p:nvPr/>
        </p:nvPicPr>
        <p:blipFill rotWithShape="1">
          <a:blip r:embed="rId3">
            <a:alphaModFix/>
          </a:blip>
          <a:srcRect/>
          <a:stretch/>
        </p:blipFill>
        <p:spPr>
          <a:xfrm>
            <a:off x="444" y="0"/>
            <a:ext cx="9143111" cy="5020574"/>
          </a:xfrm>
          <a:prstGeom prst="rect">
            <a:avLst/>
          </a:prstGeom>
          <a:noFill/>
          <a:ln>
            <a:noFill/>
          </a:ln>
        </p:spPr>
      </p:pic>
      <p:sp>
        <p:nvSpPr>
          <p:cNvPr id="140" name="Google Shape;140;p25"/>
          <p:cNvSpPr txBox="1"/>
          <p:nvPr/>
        </p:nvSpPr>
        <p:spPr>
          <a:xfrm>
            <a:off x="1854675" y="3861749"/>
            <a:ext cx="5434500" cy="1285200"/>
          </a:xfrm>
          <a:prstGeom prst="rect">
            <a:avLst/>
          </a:prstGeom>
          <a:noFill/>
          <a:ln>
            <a:noFill/>
          </a:ln>
        </p:spPr>
        <p:txBody>
          <a:bodyPr spcFirstLastPara="1" wrap="square" lIns="68575" tIns="34275" rIns="68575" bIns="34275" anchor="t" anchorCtr="0">
            <a:spAutoFit/>
          </a:bodyPr>
          <a:lstStyle/>
          <a:p>
            <a:pPr marL="0" lvl="0" indent="0" algn="ctr" rtl="0">
              <a:spcBef>
                <a:spcPts val="0"/>
              </a:spcBef>
              <a:spcAft>
                <a:spcPts val="0"/>
              </a:spcAft>
              <a:buClr>
                <a:schemeClr val="dk1"/>
              </a:buClr>
              <a:buSzPts val="1100"/>
              <a:buFont typeface="Arial"/>
              <a:buNone/>
            </a:pPr>
            <a:r>
              <a:rPr lang="en-GB" sz="2000">
                <a:solidFill>
                  <a:schemeClr val="dk1"/>
                </a:solidFill>
                <a:latin typeface="Calibri"/>
                <a:ea typeface="Calibri"/>
                <a:cs typeface="Calibri"/>
                <a:sym typeface="Calibri"/>
              </a:rPr>
              <a:t> Price and Market Analysis on used cars</a:t>
            </a:r>
            <a:endParaRPr sz="20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GB" sz="2000">
                <a:solidFill>
                  <a:schemeClr val="dk1"/>
                </a:solidFill>
                <a:latin typeface="Calibri"/>
                <a:ea typeface="Calibri"/>
                <a:cs typeface="Calibri"/>
                <a:sym typeface="Calibri"/>
              </a:rPr>
              <a:t>OLX</a:t>
            </a:r>
            <a:endParaRPr sz="20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br>
              <a:rPr lang="en-GB" sz="1400" b="0" i="0" u="none" strike="noStrike" cap="none">
                <a:solidFill>
                  <a:schemeClr val="dk1"/>
                </a:solidFill>
                <a:latin typeface="Calibri"/>
                <a:ea typeface="Calibri"/>
                <a:cs typeface="Calibri"/>
                <a:sym typeface="Calibri"/>
              </a:rPr>
            </a:br>
            <a:endParaRPr sz="1100" b="0" i="0" u="none" strike="noStrike" cap="none">
              <a:solidFill>
                <a:srgbClr val="000000"/>
              </a:solidFill>
              <a:latin typeface="Arial"/>
              <a:ea typeface="Arial"/>
              <a:cs typeface="Arial"/>
              <a:sym typeface="Arial"/>
            </a:endParaRPr>
          </a:p>
        </p:txBody>
      </p:sp>
      <p:pic>
        <p:nvPicPr>
          <p:cNvPr id="141" name="Google Shape;141;p25" title="olx logo.png"/>
          <p:cNvPicPr preferRelativeResize="0"/>
          <p:nvPr/>
        </p:nvPicPr>
        <p:blipFill>
          <a:blip r:embed="rId4">
            <a:alphaModFix/>
          </a:blip>
          <a:stretch>
            <a:fillRect/>
          </a:stretch>
        </p:blipFill>
        <p:spPr>
          <a:xfrm>
            <a:off x="3151650" y="2689721"/>
            <a:ext cx="2628900" cy="1172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A6FD7-7A77-691D-7CE5-C817DD4DA124}"/>
              </a:ext>
            </a:extLst>
          </p:cNvPr>
          <p:cNvSpPr>
            <a:spLocks noGrp="1"/>
          </p:cNvSpPr>
          <p:nvPr>
            <p:ph type="title"/>
          </p:nvPr>
        </p:nvSpPr>
        <p:spPr/>
        <p:txBody>
          <a:bodyPr>
            <a:normAutofit fontScale="90000"/>
          </a:bodyPr>
          <a:lstStyle/>
          <a:p>
            <a:r>
              <a:rPr lang="en-GB" sz="3600" dirty="0">
                <a:solidFill>
                  <a:srgbClr val="FF0000"/>
                </a:solidFill>
                <a:latin typeface="Lato Black"/>
                <a:ea typeface="Lato Black"/>
                <a:cs typeface="Lato Black"/>
                <a:sym typeface="Lato Black"/>
              </a:rPr>
              <a:t>About me : </a:t>
            </a:r>
            <a:br>
              <a:rPr lang="en-GB" sz="2000" dirty="0">
                <a:solidFill>
                  <a:srgbClr val="FF0000"/>
                </a:solidFill>
              </a:rPr>
            </a:br>
            <a:endParaRPr lang="en-IN" dirty="0"/>
          </a:p>
        </p:txBody>
      </p:sp>
      <p:sp>
        <p:nvSpPr>
          <p:cNvPr id="3" name="Text Placeholder 2">
            <a:extLst>
              <a:ext uri="{FF2B5EF4-FFF2-40B4-BE49-F238E27FC236}">
                <a16:creationId xmlns:a16="http://schemas.microsoft.com/office/drawing/2014/main" id="{01711BBB-3077-3395-6E07-C5E2F8741DAE}"/>
              </a:ext>
            </a:extLst>
          </p:cNvPr>
          <p:cNvSpPr>
            <a:spLocks noGrp="1"/>
          </p:cNvSpPr>
          <p:nvPr>
            <p:ph type="body" idx="1"/>
          </p:nvPr>
        </p:nvSpPr>
        <p:spPr>
          <a:xfrm>
            <a:off x="0" y="826777"/>
            <a:ext cx="7886700" cy="4171425"/>
          </a:xfrm>
        </p:spPr>
        <p:txBody>
          <a:bodyPr>
            <a:normAutofit/>
          </a:bodyPr>
          <a:lstStyle/>
          <a:p>
            <a:r>
              <a:rPr lang="en-US" dirty="0"/>
              <a:t>I am Harsha Vardhan P , a BTech graduate with a strong </a:t>
            </a:r>
            <a:r>
              <a:rPr lang="en-IN" dirty="0"/>
              <a:t>interest</a:t>
            </a:r>
            <a:r>
              <a:rPr lang="en-US" dirty="0"/>
              <a:t> in Data Analytics and Data Visualization. </a:t>
            </a:r>
          </a:p>
          <a:p>
            <a:r>
              <a:rPr lang="en-US" dirty="0"/>
              <a:t>I enjoy working with real-world datasets to extract meaningful insights that enable data-driven decision-making.</a:t>
            </a:r>
          </a:p>
          <a:p>
            <a:r>
              <a:rPr lang="en-US" dirty="0"/>
              <a:t>I have practical experience in Web Data Extraction, Data Cleaning, and Data Preprocessing using Python and related libraries.</a:t>
            </a:r>
          </a:p>
          <a:p>
            <a:r>
              <a:rPr lang="en-US" dirty="0"/>
              <a:t> Currently, I am enhancing my expertise in Data Science, focusing on analytical tools, to build a successful career in the analytics domain.</a:t>
            </a:r>
          </a:p>
          <a:p>
            <a:r>
              <a:rPr lang="en-US" sz="2000" dirty="0"/>
              <a:t>• GITHUB – </a:t>
            </a:r>
            <a:r>
              <a:rPr lang="en-US" sz="2000" dirty="0">
                <a:hlinkClick r:id="rId2"/>
              </a:rPr>
              <a:t>https://github.com/harshavardhanpoluri13-cloud</a:t>
            </a:r>
            <a:endParaRPr lang="en-US" sz="2000" dirty="0"/>
          </a:p>
          <a:p>
            <a:br>
              <a:rPr lang="en-US" sz="2000" dirty="0"/>
            </a:br>
            <a:r>
              <a:rPr lang="en-US" sz="2000" dirty="0"/>
              <a:t>•LINKEDIN– </a:t>
            </a:r>
            <a:r>
              <a:rPr lang="en-US" sz="2000" dirty="0">
                <a:hlinkClick r:id="rId3" action="ppaction://hlinkpres?slideindex=1&amp;slidetitle="/>
              </a:rPr>
              <a:t>www.linkedin.com/in/harsha-vardhn</a:t>
            </a:r>
            <a:endParaRPr lang="en-US" sz="2000" dirty="0"/>
          </a:p>
          <a:p>
            <a:endParaRPr lang="en-IN" dirty="0"/>
          </a:p>
        </p:txBody>
      </p:sp>
    </p:spTree>
    <p:extLst>
      <p:ext uri="{BB962C8B-B14F-4D97-AF65-F5344CB8AC3E}">
        <p14:creationId xmlns:p14="http://schemas.microsoft.com/office/powerpoint/2010/main" val="22611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Objective of the Project :</a:t>
            </a:r>
            <a:endParaRPr b="1">
              <a:solidFill>
                <a:srgbClr val="FF0000"/>
              </a:solidFill>
            </a:endParaRPr>
          </a:p>
        </p:txBody>
      </p:sp>
      <p:sp>
        <p:nvSpPr>
          <p:cNvPr id="153" name="Google Shape;153;p27"/>
          <p:cNvSpPr txBox="1">
            <a:spLocks noGrp="1"/>
          </p:cNvSpPr>
          <p:nvPr>
            <p:ph type="body" idx="1"/>
          </p:nvPr>
        </p:nvSpPr>
        <p:spPr>
          <a:xfrm>
            <a:off x="513650" y="1007900"/>
            <a:ext cx="7886700" cy="3694800"/>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800"/>
              </a:spcBef>
              <a:spcAft>
                <a:spcPts val="0"/>
              </a:spcAft>
              <a:buClr>
                <a:schemeClr val="dk1"/>
              </a:buClr>
              <a:buSzPts val="2100"/>
              <a:buNone/>
            </a:pPr>
            <a:r>
              <a:rPr lang="en-GB" sz="1800"/>
              <a:t>The objective of this project is to build an end-to-end web-scraping pipeline to collect used-car data from OLX. The project aims to automate the extraction of real car listings, clean and organize the data, and study patterns in pricing, brands, mileage, ownership, and location-based trends in Bengaluru. This project demonstrates how web-scraping can be used to generate a live dataset for real-world market analysis</a:t>
            </a:r>
            <a:endParaRPr sz="1800"/>
          </a:p>
          <a:p>
            <a:pPr marL="0" lvl="0" indent="0" algn="l" rtl="0">
              <a:lnSpc>
                <a:spcPct val="90000"/>
              </a:lnSpc>
              <a:spcBef>
                <a:spcPts val="800"/>
              </a:spcBef>
              <a:spcAft>
                <a:spcPts val="0"/>
              </a:spcAft>
              <a:buClr>
                <a:schemeClr val="dk1"/>
              </a:buClr>
              <a:buSzPts val="2100"/>
              <a:buNone/>
            </a:pPr>
            <a:endParaRPr sz="1800"/>
          </a:p>
          <a:p>
            <a:pPr marL="457200" lvl="0" indent="-342900" algn="l" rtl="0">
              <a:spcBef>
                <a:spcPts val="800"/>
              </a:spcBef>
              <a:spcAft>
                <a:spcPts val="0"/>
              </a:spcAft>
              <a:buSzPts val="1800"/>
              <a:buChar char="•"/>
            </a:pPr>
            <a:r>
              <a:rPr lang="en-GB" sz="1800"/>
              <a:t>Build an end-to-end web-scraping pipeline to collect real used-car data from OLX.</a:t>
            </a:r>
            <a:endParaRPr sz="1800"/>
          </a:p>
          <a:p>
            <a:pPr marL="457200" lvl="0" indent="-342900" algn="l" rtl="0">
              <a:spcBef>
                <a:spcPts val="0"/>
              </a:spcBef>
              <a:spcAft>
                <a:spcPts val="0"/>
              </a:spcAft>
              <a:buSzPts val="1800"/>
              <a:buChar char="•"/>
            </a:pPr>
            <a:r>
              <a:rPr lang="en-GB" sz="1800"/>
              <a:t>Automate extraction of car details like price, brand, mileage, owners, and location.</a:t>
            </a:r>
            <a:endParaRPr sz="1800"/>
          </a:p>
          <a:p>
            <a:pPr marL="457200" lvl="0" indent="-342900" algn="l" rtl="0">
              <a:spcBef>
                <a:spcPts val="0"/>
              </a:spcBef>
              <a:spcAft>
                <a:spcPts val="0"/>
              </a:spcAft>
              <a:buSzPts val="1800"/>
              <a:buChar char="•"/>
            </a:pPr>
            <a:r>
              <a:rPr lang="en-GB" sz="1800"/>
              <a:t>Clean and organize the scraped data into a structured dataset.</a:t>
            </a:r>
            <a:endParaRPr sz="1800"/>
          </a:p>
          <a:p>
            <a:pPr marL="457200" lvl="0" indent="-342900" algn="l" rtl="0">
              <a:spcBef>
                <a:spcPts val="0"/>
              </a:spcBef>
              <a:spcAft>
                <a:spcPts val="0"/>
              </a:spcAft>
              <a:buSzPts val="1800"/>
              <a:buChar char="•"/>
            </a:pPr>
            <a:r>
              <a:rPr lang="en-GB" sz="1800"/>
              <a:t>Analyze trends in Bengaluru’s second-hand car market.</a:t>
            </a:r>
            <a:endParaRPr sz="1800"/>
          </a:p>
          <a:p>
            <a:pPr marL="457200" lvl="0" indent="0" algn="l" rtl="0">
              <a:lnSpc>
                <a:spcPct val="90000"/>
              </a:lnSpc>
              <a:spcBef>
                <a:spcPts val="800"/>
              </a:spcBef>
              <a:spcAft>
                <a:spcPts val="0"/>
              </a:spcAft>
              <a:buNone/>
            </a:pP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Process we followed :</a:t>
            </a:r>
            <a:endParaRPr b="1">
              <a:solidFill>
                <a:srgbClr val="FF0000"/>
              </a:solidFill>
            </a:endParaRPr>
          </a:p>
        </p:txBody>
      </p:sp>
      <p:sp>
        <p:nvSpPr>
          <p:cNvPr id="159" name="Google Shape;159;p28"/>
          <p:cNvSpPr txBox="1">
            <a:spLocks noGrp="1"/>
          </p:cNvSpPr>
          <p:nvPr>
            <p:ph type="body" idx="1"/>
          </p:nvPr>
        </p:nvSpPr>
        <p:spPr>
          <a:xfrm>
            <a:off x="513650" y="1007900"/>
            <a:ext cx="7886700" cy="3694800"/>
          </a:xfrm>
          <a:prstGeom prst="rect">
            <a:avLst/>
          </a:prstGeom>
          <a:noFill/>
          <a:ln>
            <a:noFill/>
          </a:ln>
        </p:spPr>
        <p:txBody>
          <a:bodyPr spcFirstLastPara="1" wrap="square" lIns="68575" tIns="34275" rIns="68575" bIns="34275" anchor="t" anchorCtr="0">
            <a:noAutofit/>
          </a:bodyPr>
          <a:lstStyle/>
          <a:p>
            <a:pPr marL="457200" lvl="0" indent="-342900" algn="l" rtl="0">
              <a:lnSpc>
                <a:spcPct val="115000"/>
              </a:lnSpc>
              <a:spcBef>
                <a:spcPts val="1400"/>
              </a:spcBef>
              <a:spcAft>
                <a:spcPts val="0"/>
              </a:spcAft>
              <a:buSzPts val="1800"/>
              <a:buChar char="•"/>
            </a:pPr>
            <a:r>
              <a:rPr lang="en-GB" sz="1300" b="1">
                <a:latin typeface="Arial"/>
                <a:ea typeface="Arial"/>
                <a:cs typeface="Arial"/>
                <a:sym typeface="Arial"/>
              </a:rPr>
              <a:t>Website Scraped:</a:t>
            </a:r>
            <a:endParaRPr sz="1300" b="1">
              <a:latin typeface="Arial"/>
              <a:ea typeface="Arial"/>
              <a:cs typeface="Arial"/>
              <a:sym typeface="Arial"/>
            </a:endParaRPr>
          </a:p>
          <a:p>
            <a:pPr marL="457200" lvl="0" indent="-342900" algn="l" rtl="0">
              <a:lnSpc>
                <a:spcPct val="115000"/>
              </a:lnSpc>
              <a:spcBef>
                <a:spcPts val="0"/>
              </a:spcBef>
              <a:spcAft>
                <a:spcPts val="0"/>
              </a:spcAft>
              <a:buSzPts val="1800"/>
              <a:buChar char="•"/>
            </a:pPr>
            <a:r>
              <a:rPr lang="en-GB" sz="1100">
                <a:latin typeface="Arial"/>
                <a:ea typeface="Arial"/>
                <a:cs typeface="Arial"/>
                <a:sym typeface="Arial"/>
              </a:rPr>
              <a:t>OLX Bengaluru – Used Cars Category</a:t>
            </a:r>
            <a:br>
              <a:rPr lang="en-GB" sz="1100">
                <a:latin typeface="Arial"/>
                <a:ea typeface="Arial"/>
                <a:cs typeface="Arial"/>
                <a:sym typeface="Arial"/>
              </a:rPr>
            </a:br>
            <a:r>
              <a:rPr lang="en-GB" sz="1100">
                <a:latin typeface="Arial"/>
                <a:ea typeface="Arial"/>
                <a:cs typeface="Arial"/>
                <a:sym typeface="Arial"/>
              </a:rPr>
              <a:t> </a:t>
            </a:r>
            <a:r>
              <a:rPr lang="en-GB" sz="1100">
                <a:solidFill>
                  <a:srgbClr val="188038"/>
                </a:solidFill>
                <a:latin typeface="Roboto Mono"/>
                <a:ea typeface="Roboto Mono"/>
                <a:cs typeface="Roboto Mono"/>
                <a:sym typeface="Roboto Mono"/>
              </a:rPr>
              <a:t>https://www.olx.in/bengaluru_g4058803/cars_c84</a:t>
            </a:r>
            <a:endParaRPr sz="1800" b="1">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Identify target website pages</a:t>
            </a:r>
            <a:r>
              <a:rPr lang="en-GB" sz="1800">
                <a:latin typeface="Arial"/>
                <a:ea typeface="Arial"/>
                <a:cs typeface="Arial"/>
                <a:sym typeface="Arial"/>
              </a:rPr>
              <a:t> containing car listings.</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Send HTTP requests</a:t>
            </a:r>
            <a:r>
              <a:rPr lang="en-GB" sz="1800">
                <a:latin typeface="Arial"/>
                <a:ea typeface="Arial"/>
                <a:cs typeface="Arial"/>
                <a:sym typeface="Arial"/>
              </a:rPr>
              <a:t> using Requests with custom headers.</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Parse HTML content</a:t>
            </a:r>
            <a:r>
              <a:rPr lang="en-GB" sz="1800">
                <a:latin typeface="Arial"/>
                <a:ea typeface="Arial"/>
                <a:cs typeface="Arial"/>
                <a:sym typeface="Arial"/>
              </a:rPr>
              <a:t> using BeautifulSoup.</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Extract car links</a:t>
            </a:r>
            <a:r>
              <a:rPr lang="en-GB" sz="1800">
                <a:latin typeface="Arial"/>
                <a:ea typeface="Arial"/>
                <a:cs typeface="Arial"/>
                <a:sym typeface="Arial"/>
              </a:rPr>
              <a:t> from each page.</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Visit each product link</a:t>
            </a:r>
            <a:r>
              <a:rPr lang="en-GB" sz="1800">
                <a:latin typeface="Arial"/>
                <a:ea typeface="Arial"/>
                <a:cs typeface="Arial"/>
                <a:sym typeface="Arial"/>
              </a:rPr>
              <a:t> to gather detailed information.</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Use Regex</a:t>
            </a:r>
            <a:r>
              <a:rPr lang="en-GB" sz="1800">
                <a:latin typeface="Arial"/>
                <a:ea typeface="Arial"/>
                <a:cs typeface="Arial"/>
                <a:sym typeface="Arial"/>
              </a:rPr>
              <a:t> to extract structured text from unstructured strings.</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Handle missing or inconsistent fields</a:t>
            </a:r>
            <a:r>
              <a:rPr lang="en-GB" sz="1800">
                <a:latin typeface="Arial"/>
                <a:ea typeface="Arial"/>
                <a:cs typeface="Arial"/>
                <a:sym typeface="Arial"/>
              </a:rPr>
              <a:t> (NaN handling).</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Create a cleaned dataset</a:t>
            </a:r>
            <a:r>
              <a:rPr lang="en-GB" sz="1800">
                <a:latin typeface="Arial"/>
                <a:ea typeface="Arial"/>
                <a:cs typeface="Arial"/>
                <a:sym typeface="Arial"/>
              </a:rPr>
              <a:t> using lists/dataframes.</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Analyze price, mileage, brand patterns</a:t>
            </a:r>
            <a:r>
              <a:rPr lang="en-GB" sz="1800">
                <a:latin typeface="Arial"/>
                <a:ea typeface="Arial"/>
                <a:cs typeface="Arial"/>
                <a:sym typeface="Arial"/>
              </a:rPr>
              <a:t>, etc.</a:t>
            </a:r>
            <a:endParaRPr sz="1800">
              <a:latin typeface="Arial"/>
              <a:ea typeface="Arial"/>
              <a:cs typeface="Arial"/>
              <a:sym typeface="Arial"/>
            </a:endParaRPr>
          </a:p>
          <a:p>
            <a:pPr marL="457200" lvl="0" indent="-342900" algn="l" rtl="0">
              <a:lnSpc>
                <a:spcPct val="95000"/>
              </a:lnSpc>
              <a:spcBef>
                <a:spcPts val="0"/>
              </a:spcBef>
              <a:spcAft>
                <a:spcPts val="0"/>
              </a:spcAft>
              <a:buSzPts val="1800"/>
              <a:buFont typeface="Arial"/>
              <a:buChar char="•"/>
            </a:pPr>
            <a:r>
              <a:rPr lang="en-GB" sz="1800" b="1">
                <a:latin typeface="Arial"/>
                <a:ea typeface="Arial"/>
                <a:cs typeface="Arial"/>
                <a:sym typeface="Arial"/>
              </a:rPr>
              <a:t>Interpret insights</a:t>
            </a:r>
            <a:r>
              <a:rPr lang="en-GB" sz="1800">
                <a:latin typeface="Arial"/>
                <a:ea typeface="Arial"/>
                <a:cs typeface="Arial"/>
                <a:sym typeface="Arial"/>
              </a:rPr>
              <a:t> for market understanding.</a:t>
            </a:r>
            <a:br>
              <a:rPr lang="en-GB" sz="1800">
                <a:latin typeface="Arial"/>
                <a:ea typeface="Arial"/>
                <a:cs typeface="Arial"/>
                <a:sym typeface="Arial"/>
              </a:rPr>
            </a:br>
            <a:endParaRPr sz="1800">
              <a:latin typeface="Arial"/>
              <a:ea typeface="Arial"/>
              <a:cs typeface="Arial"/>
              <a:sym typeface="Arial"/>
            </a:endParaRPr>
          </a:p>
          <a:p>
            <a:pPr marL="0" lvl="0" indent="0" algn="l" rtl="0">
              <a:lnSpc>
                <a:spcPct val="70000"/>
              </a:lnSpc>
              <a:spcBef>
                <a:spcPts val="1200"/>
              </a:spcBef>
              <a:spcAft>
                <a:spcPts val="0"/>
              </a:spcAft>
              <a:buNone/>
            </a:pP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Collected information :</a:t>
            </a:r>
            <a:endParaRPr b="1">
              <a:solidFill>
                <a:srgbClr val="FF0000"/>
              </a:solidFill>
            </a:endParaRPr>
          </a:p>
        </p:txBody>
      </p:sp>
      <p:sp>
        <p:nvSpPr>
          <p:cNvPr id="177" name="Google Shape;177;p30"/>
          <p:cNvSpPr txBox="1">
            <a:spLocks noGrp="1"/>
          </p:cNvSpPr>
          <p:nvPr>
            <p:ph type="body" idx="1"/>
          </p:nvPr>
        </p:nvSpPr>
        <p:spPr>
          <a:xfrm>
            <a:off x="470375" y="1007900"/>
            <a:ext cx="7886700" cy="3901800"/>
          </a:xfrm>
          <a:prstGeom prst="rect">
            <a:avLst/>
          </a:prstGeom>
          <a:noFill/>
          <a:ln>
            <a:noFill/>
          </a:ln>
        </p:spPr>
        <p:txBody>
          <a:bodyPr spcFirstLastPara="1" wrap="square" lIns="68575" tIns="34275" rIns="68575" bIns="34275" anchor="t" anchorCtr="0">
            <a:noAutofit/>
          </a:bodyPr>
          <a:lstStyle/>
          <a:p>
            <a:pPr marL="457200" lvl="0" indent="-342900" algn="l" rtl="0">
              <a:lnSpc>
                <a:spcPct val="70000"/>
              </a:lnSpc>
              <a:spcBef>
                <a:spcPts val="800"/>
              </a:spcBef>
              <a:spcAft>
                <a:spcPts val="0"/>
              </a:spcAft>
              <a:buSzPts val="1800"/>
              <a:buFont typeface="Arial"/>
              <a:buChar char="•"/>
            </a:pPr>
            <a:r>
              <a:rPr lang="en-GB" sz="1800">
                <a:latin typeface="Arial"/>
                <a:ea typeface="Arial"/>
                <a:cs typeface="Arial"/>
                <a:sym typeface="Arial"/>
              </a:rPr>
              <a:t>Name / Brand (extracted using regex)</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Model year</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Price (cleaned from currency symbols &amp; formatting)</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Location of the seller</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Owner count (1st/2nd/3rd owner)</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Posting date of the listing</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Engine type (Petrol, Diesel, CNG, etc.)</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Total trip (mileage in KM)</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Transmission (Manual/Automatic)</a:t>
            </a: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Variant (specific model configuration)</a:t>
            </a:r>
            <a:endParaRPr sz="1800">
              <a:latin typeface="Arial"/>
              <a:ea typeface="Arial"/>
              <a:cs typeface="Arial"/>
              <a:sym typeface="Arial"/>
            </a:endParaRPr>
          </a:p>
          <a:p>
            <a:pPr marL="914400" lvl="0" indent="0" algn="l" rtl="0">
              <a:lnSpc>
                <a:spcPct val="70000"/>
              </a:lnSpc>
              <a:spcBef>
                <a:spcPts val="800"/>
              </a:spcBef>
              <a:spcAft>
                <a:spcPts val="0"/>
              </a:spcAft>
              <a:buNone/>
            </a:pPr>
            <a:endParaRPr sz="18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Data Cleaning Steps:</a:t>
            </a:r>
            <a:endParaRPr b="1">
              <a:solidFill>
                <a:srgbClr val="FF0000"/>
              </a:solidFill>
            </a:endParaRPr>
          </a:p>
        </p:txBody>
      </p:sp>
      <p:sp>
        <p:nvSpPr>
          <p:cNvPr id="183" name="Google Shape;183;p31"/>
          <p:cNvSpPr txBox="1">
            <a:spLocks noGrp="1"/>
          </p:cNvSpPr>
          <p:nvPr>
            <p:ph type="body" idx="1"/>
          </p:nvPr>
        </p:nvSpPr>
        <p:spPr>
          <a:xfrm>
            <a:off x="470375" y="1007900"/>
            <a:ext cx="7886700" cy="3901800"/>
          </a:xfrm>
          <a:prstGeom prst="rect">
            <a:avLst/>
          </a:prstGeom>
          <a:noFill/>
          <a:ln>
            <a:noFill/>
          </a:ln>
        </p:spPr>
        <p:txBody>
          <a:bodyPr spcFirstLastPara="1" wrap="square" lIns="68575" tIns="34275" rIns="68575" bIns="34275" anchor="t" anchorCtr="0">
            <a:noAutofit/>
          </a:bodyPr>
          <a:lstStyle/>
          <a:p>
            <a:pPr marL="457200" lvl="0" indent="-298450" algn="l" rtl="0">
              <a:lnSpc>
                <a:spcPct val="115000"/>
              </a:lnSpc>
              <a:spcBef>
                <a:spcPts val="1200"/>
              </a:spcBef>
              <a:spcAft>
                <a:spcPts val="0"/>
              </a:spcAft>
              <a:buSzPts val="1100"/>
              <a:buChar char="●"/>
            </a:pPr>
            <a:r>
              <a:rPr lang="en-GB" sz="1800">
                <a:latin typeface="Arial"/>
                <a:ea typeface="Arial"/>
                <a:cs typeface="Arial"/>
                <a:sym typeface="Arial"/>
              </a:rPr>
              <a:t>Removed missing or blank values</a:t>
            </a:r>
            <a:br>
              <a:rPr lang="en-GB" sz="1800">
                <a:latin typeface="Arial"/>
                <a:ea typeface="Arial"/>
                <a:cs typeface="Arial"/>
                <a:sym typeface="Arial"/>
              </a:rPr>
            </a:br>
            <a:endParaRPr sz="1800">
              <a:latin typeface="Arial"/>
              <a:ea typeface="Arial"/>
              <a:cs typeface="Arial"/>
              <a:sym typeface="Arial"/>
            </a:endParaRPr>
          </a:p>
          <a:p>
            <a:pPr marL="457200" lvl="0" indent="-298450" algn="l" rtl="0">
              <a:lnSpc>
                <a:spcPct val="115000"/>
              </a:lnSpc>
              <a:spcBef>
                <a:spcPts val="0"/>
              </a:spcBef>
              <a:spcAft>
                <a:spcPts val="0"/>
              </a:spcAft>
              <a:buSzPts val="1100"/>
              <a:buChar char="●"/>
            </a:pPr>
            <a:r>
              <a:rPr lang="en-GB" sz="1800">
                <a:latin typeface="Arial"/>
                <a:ea typeface="Arial"/>
                <a:cs typeface="Arial"/>
                <a:sym typeface="Arial"/>
              </a:rPr>
              <a:t>Cleaned price values (removed ₹, commas, etc.)</a:t>
            </a:r>
            <a:br>
              <a:rPr lang="en-GB" sz="1800">
                <a:latin typeface="Arial"/>
                <a:ea typeface="Arial"/>
                <a:cs typeface="Arial"/>
                <a:sym typeface="Arial"/>
              </a:rPr>
            </a:br>
            <a:endParaRPr sz="1800">
              <a:latin typeface="Arial"/>
              <a:ea typeface="Arial"/>
              <a:cs typeface="Arial"/>
              <a:sym typeface="Arial"/>
            </a:endParaRPr>
          </a:p>
          <a:p>
            <a:pPr marL="457200" lvl="0" indent="-298450" algn="l" rtl="0">
              <a:lnSpc>
                <a:spcPct val="115000"/>
              </a:lnSpc>
              <a:spcBef>
                <a:spcPts val="0"/>
              </a:spcBef>
              <a:spcAft>
                <a:spcPts val="0"/>
              </a:spcAft>
              <a:buSzPts val="1100"/>
              <a:buChar char="●"/>
            </a:pPr>
            <a:r>
              <a:rPr lang="en-GB" sz="1800">
                <a:latin typeface="Arial"/>
                <a:ea typeface="Arial"/>
                <a:cs typeface="Arial"/>
                <a:sym typeface="Arial"/>
              </a:rPr>
              <a:t>Standardized Total trip formats (converted strings like “77,000” to numeric)</a:t>
            </a:r>
            <a:br>
              <a:rPr lang="en-GB" sz="1800">
                <a:latin typeface="Arial"/>
                <a:ea typeface="Arial"/>
                <a:cs typeface="Arial"/>
                <a:sym typeface="Arial"/>
              </a:rPr>
            </a:br>
            <a:endParaRPr sz="1800">
              <a:latin typeface="Arial"/>
              <a:ea typeface="Arial"/>
              <a:cs typeface="Arial"/>
              <a:sym typeface="Arial"/>
            </a:endParaRPr>
          </a:p>
          <a:p>
            <a:pPr marL="457200" lvl="0" indent="-298450" algn="l" rtl="0">
              <a:lnSpc>
                <a:spcPct val="115000"/>
              </a:lnSpc>
              <a:spcBef>
                <a:spcPts val="0"/>
              </a:spcBef>
              <a:spcAft>
                <a:spcPts val="0"/>
              </a:spcAft>
              <a:buSzPts val="1100"/>
              <a:buChar char="●"/>
            </a:pPr>
            <a:r>
              <a:rPr lang="en-GB" sz="1800">
                <a:latin typeface="Arial"/>
                <a:ea typeface="Arial"/>
                <a:cs typeface="Arial"/>
                <a:sym typeface="Arial"/>
              </a:rPr>
              <a:t>Extracted model year and variant cleanly using regex</a:t>
            </a:r>
            <a:br>
              <a:rPr lang="en-GB" sz="1800">
                <a:latin typeface="Arial"/>
                <a:ea typeface="Arial"/>
                <a:cs typeface="Arial"/>
                <a:sym typeface="Arial"/>
              </a:rPr>
            </a:br>
            <a:endParaRPr sz="1800">
              <a:latin typeface="Arial"/>
              <a:ea typeface="Arial"/>
              <a:cs typeface="Arial"/>
              <a:sym typeface="Arial"/>
            </a:endParaRPr>
          </a:p>
          <a:p>
            <a:pPr marL="457200" lvl="0" indent="-298450" algn="l" rtl="0">
              <a:lnSpc>
                <a:spcPct val="115000"/>
              </a:lnSpc>
              <a:spcBef>
                <a:spcPts val="0"/>
              </a:spcBef>
              <a:spcAft>
                <a:spcPts val="0"/>
              </a:spcAft>
              <a:buSzPts val="1100"/>
              <a:buChar char="●"/>
            </a:pPr>
            <a:r>
              <a:rPr lang="en-GB" sz="1800">
                <a:latin typeface="Arial"/>
                <a:ea typeface="Arial"/>
                <a:cs typeface="Arial"/>
                <a:sym typeface="Arial"/>
              </a:rPr>
              <a:t>Separated location text properly</a:t>
            </a:r>
            <a:br>
              <a:rPr lang="en-GB" sz="1800">
                <a:latin typeface="Arial"/>
                <a:ea typeface="Arial"/>
                <a:cs typeface="Arial"/>
                <a:sym typeface="Arial"/>
              </a:rPr>
            </a:br>
            <a:endParaRPr sz="1800">
              <a:latin typeface="Arial"/>
              <a:ea typeface="Arial"/>
              <a:cs typeface="Arial"/>
              <a:sym typeface="Arial"/>
            </a:endParaRPr>
          </a:p>
          <a:p>
            <a:pPr marL="457200" lvl="0" indent="-298450" algn="l" rtl="0">
              <a:lnSpc>
                <a:spcPct val="115000"/>
              </a:lnSpc>
              <a:spcBef>
                <a:spcPts val="0"/>
              </a:spcBef>
              <a:spcAft>
                <a:spcPts val="0"/>
              </a:spcAft>
              <a:buSzPts val="1100"/>
              <a:buChar char="●"/>
            </a:pPr>
            <a:r>
              <a:rPr lang="en-GB" sz="1800">
                <a:latin typeface="Arial"/>
                <a:ea typeface="Arial"/>
                <a:cs typeface="Arial"/>
                <a:sym typeface="Arial"/>
              </a:rPr>
              <a:t>Handled inconsistent ownership formats (1st owner → 1)</a:t>
            </a:r>
            <a:br>
              <a:rPr lang="en-GB" sz="1800">
                <a:latin typeface="Arial"/>
                <a:ea typeface="Arial"/>
                <a:cs typeface="Arial"/>
                <a:sym typeface="Arial"/>
              </a:rPr>
            </a:br>
            <a:endParaRPr sz="1800">
              <a:latin typeface="Arial"/>
              <a:ea typeface="Arial"/>
              <a:cs typeface="Arial"/>
              <a:sym typeface="Arial"/>
            </a:endParaRPr>
          </a:p>
          <a:p>
            <a:pPr marL="914400" lvl="0" indent="0" algn="l" rtl="0">
              <a:lnSpc>
                <a:spcPct val="70000"/>
              </a:lnSpc>
              <a:spcBef>
                <a:spcPts val="1200"/>
              </a:spcBef>
              <a:spcAft>
                <a:spcPts val="0"/>
              </a:spcAft>
              <a:buNone/>
            </a:pPr>
            <a:endParaRPr sz="18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9"/>
          <p:cNvPicPr preferRelativeResize="0"/>
          <p:nvPr/>
        </p:nvPicPr>
        <p:blipFill>
          <a:blip r:embed="rId3">
            <a:alphaModFix/>
          </a:blip>
          <a:stretch>
            <a:fillRect/>
          </a:stretch>
        </p:blipFill>
        <p:spPr>
          <a:xfrm>
            <a:off x="314200" y="197975"/>
            <a:ext cx="2198025" cy="2087550"/>
          </a:xfrm>
          <a:prstGeom prst="rect">
            <a:avLst/>
          </a:prstGeom>
          <a:noFill/>
          <a:ln>
            <a:noFill/>
          </a:ln>
        </p:spPr>
      </p:pic>
      <p:pic>
        <p:nvPicPr>
          <p:cNvPr id="165" name="Google Shape;165;p29"/>
          <p:cNvPicPr preferRelativeResize="0"/>
          <p:nvPr/>
        </p:nvPicPr>
        <p:blipFill>
          <a:blip r:embed="rId4">
            <a:alphaModFix/>
          </a:blip>
          <a:stretch>
            <a:fillRect/>
          </a:stretch>
        </p:blipFill>
        <p:spPr>
          <a:xfrm>
            <a:off x="152400" y="2684000"/>
            <a:ext cx="1810528" cy="2240300"/>
          </a:xfrm>
          <a:prstGeom prst="rect">
            <a:avLst/>
          </a:prstGeom>
          <a:noFill/>
          <a:ln>
            <a:noFill/>
          </a:ln>
        </p:spPr>
      </p:pic>
      <p:pic>
        <p:nvPicPr>
          <p:cNvPr id="166" name="Google Shape;166;p29"/>
          <p:cNvPicPr preferRelativeResize="0"/>
          <p:nvPr/>
        </p:nvPicPr>
        <p:blipFill>
          <a:blip r:embed="rId5">
            <a:alphaModFix/>
          </a:blip>
          <a:stretch>
            <a:fillRect/>
          </a:stretch>
        </p:blipFill>
        <p:spPr>
          <a:xfrm>
            <a:off x="6215103" y="2528700"/>
            <a:ext cx="1952625" cy="2276475"/>
          </a:xfrm>
          <a:prstGeom prst="rect">
            <a:avLst/>
          </a:prstGeom>
          <a:noFill/>
          <a:ln>
            <a:noFill/>
          </a:ln>
        </p:spPr>
      </p:pic>
      <p:sp>
        <p:nvSpPr>
          <p:cNvPr id="167" name="Google Shape;167;p29"/>
          <p:cNvSpPr txBox="1"/>
          <p:nvPr/>
        </p:nvSpPr>
        <p:spPr>
          <a:xfrm>
            <a:off x="2639775" y="736025"/>
            <a:ext cx="3399300" cy="73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latin typeface="Calibri"/>
                <a:ea typeface="Calibri"/>
                <a:cs typeface="Calibri"/>
                <a:sym typeface="Calibri"/>
              </a:rPr>
              <a:t>Changing datatype of various columns</a:t>
            </a:r>
            <a:endParaRPr sz="1600">
              <a:solidFill>
                <a:schemeClr val="dk1"/>
              </a:solidFill>
              <a:latin typeface="Calibri"/>
              <a:ea typeface="Calibri"/>
              <a:cs typeface="Calibri"/>
              <a:sym typeface="Calibri"/>
            </a:endParaRPr>
          </a:p>
          <a:p>
            <a:pPr marL="0" lvl="0" indent="0" algn="l" rtl="0">
              <a:spcBef>
                <a:spcPts val="0"/>
              </a:spcBef>
              <a:spcAft>
                <a:spcPts val="0"/>
              </a:spcAft>
              <a:buNone/>
            </a:pPr>
            <a:r>
              <a:rPr lang="en-GB" sz="16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p:txBody>
      </p:sp>
      <p:sp>
        <p:nvSpPr>
          <p:cNvPr id="168" name="Google Shape;168;p29"/>
          <p:cNvSpPr txBox="1"/>
          <p:nvPr/>
        </p:nvSpPr>
        <p:spPr>
          <a:xfrm>
            <a:off x="2132725" y="3189400"/>
            <a:ext cx="3887700" cy="430500"/>
          </a:xfrm>
          <a:prstGeom prst="rect">
            <a:avLst/>
          </a:prstGeom>
          <a:noFill/>
          <a:ln>
            <a:noFill/>
          </a:ln>
        </p:spPr>
        <p:txBody>
          <a:bodyPr spcFirstLastPara="1" wrap="square" lIns="91425" tIns="91425" rIns="91425" bIns="91425" anchor="t" anchorCtr="0">
            <a:noAutofit/>
          </a:bodyPr>
          <a:lstStyle/>
          <a:p>
            <a:pPr marL="0" lvl="0" indent="457200" algn="l" rtl="0">
              <a:spcBef>
                <a:spcPts val="0"/>
              </a:spcBef>
              <a:spcAft>
                <a:spcPts val="0"/>
              </a:spcAft>
              <a:buNone/>
            </a:pPr>
            <a:r>
              <a:rPr lang="en-GB" sz="2100">
                <a:solidFill>
                  <a:schemeClr val="dk1"/>
                </a:solidFill>
                <a:latin typeface="Calibri"/>
                <a:ea typeface="Calibri"/>
                <a:cs typeface="Calibri"/>
                <a:sym typeface="Calibri"/>
              </a:rPr>
              <a:t>Filling of Nan values</a:t>
            </a:r>
            <a:endParaRPr sz="2100">
              <a:solidFill>
                <a:schemeClr val="dk1"/>
              </a:solidFill>
              <a:latin typeface="Calibri"/>
              <a:ea typeface="Calibri"/>
              <a:cs typeface="Calibri"/>
              <a:sym typeface="Calibri"/>
            </a:endParaRPr>
          </a:p>
        </p:txBody>
      </p:sp>
      <p:cxnSp>
        <p:nvCxnSpPr>
          <p:cNvPr id="169" name="Google Shape;169;p29"/>
          <p:cNvCxnSpPr/>
          <p:nvPr/>
        </p:nvCxnSpPr>
        <p:spPr>
          <a:xfrm>
            <a:off x="3133450" y="1456975"/>
            <a:ext cx="2216700" cy="10800"/>
          </a:xfrm>
          <a:prstGeom prst="straightConnector1">
            <a:avLst/>
          </a:prstGeom>
          <a:noFill/>
          <a:ln w="9525" cap="flat" cmpd="sng">
            <a:solidFill>
              <a:schemeClr val="dk2"/>
            </a:solidFill>
            <a:prstDash val="solid"/>
            <a:round/>
            <a:headEnd type="none" w="med" len="med"/>
            <a:tailEnd type="triangle" w="med" len="med"/>
          </a:ln>
        </p:spPr>
      </p:cxnSp>
      <p:cxnSp>
        <p:nvCxnSpPr>
          <p:cNvPr id="170" name="Google Shape;170;p29"/>
          <p:cNvCxnSpPr/>
          <p:nvPr/>
        </p:nvCxnSpPr>
        <p:spPr>
          <a:xfrm>
            <a:off x="2778350" y="3996425"/>
            <a:ext cx="2485800" cy="10800"/>
          </a:xfrm>
          <a:prstGeom prst="straightConnector1">
            <a:avLst/>
          </a:prstGeom>
          <a:noFill/>
          <a:ln w="9525" cap="flat" cmpd="sng">
            <a:solidFill>
              <a:schemeClr val="dk2"/>
            </a:solidFill>
            <a:prstDash val="solid"/>
            <a:round/>
            <a:headEnd type="none" w="med" len="med"/>
            <a:tailEnd type="triangle" w="med" len="med"/>
          </a:ln>
        </p:spPr>
      </p:cxnSp>
      <p:pic>
        <p:nvPicPr>
          <p:cNvPr id="171" name="Google Shape;171;p29" title="image_2025-11-27_002343342.png"/>
          <p:cNvPicPr preferRelativeResize="0"/>
          <p:nvPr/>
        </p:nvPicPr>
        <p:blipFill>
          <a:blip r:embed="rId6">
            <a:alphaModFix/>
          </a:blip>
          <a:stretch>
            <a:fillRect/>
          </a:stretch>
        </p:blipFill>
        <p:spPr>
          <a:xfrm>
            <a:off x="6039075" y="229863"/>
            <a:ext cx="2800125" cy="20237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Data Manipulation Steps :</a:t>
            </a:r>
            <a:endParaRPr b="1">
              <a:solidFill>
                <a:srgbClr val="FF0000"/>
              </a:solidFill>
            </a:endParaRPr>
          </a:p>
        </p:txBody>
      </p:sp>
      <p:sp>
        <p:nvSpPr>
          <p:cNvPr id="189" name="Google Shape;189;p32"/>
          <p:cNvSpPr txBox="1">
            <a:spLocks noGrp="1"/>
          </p:cNvSpPr>
          <p:nvPr>
            <p:ph type="body" idx="1"/>
          </p:nvPr>
        </p:nvSpPr>
        <p:spPr>
          <a:xfrm>
            <a:off x="470375" y="1007900"/>
            <a:ext cx="7886700" cy="3901800"/>
          </a:xfrm>
          <a:prstGeom prst="rect">
            <a:avLst/>
          </a:prstGeom>
          <a:noFill/>
          <a:ln>
            <a:noFill/>
          </a:ln>
        </p:spPr>
        <p:txBody>
          <a:bodyPr spcFirstLastPara="1" wrap="square" lIns="68575" tIns="34275" rIns="68575" bIns="34275" anchor="t" anchorCtr="0">
            <a:noAutofit/>
          </a:bodyPr>
          <a:lstStyle/>
          <a:p>
            <a:pPr marL="457200" lvl="0" indent="-342900" algn="l" rtl="0">
              <a:lnSpc>
                <a:spcPct val="70000"/>
              </a:lnSpc>
              <a:spcBef>
                <a:spcPts val="800"/>
              </a:spcBef>
              <a:spcAft>
                <a:spcPts val="0"/>
              </a:spcAft>
              <a:buSzPts val="1800"/>
              <a:buFont typeface="Arial"/>
              <a:buChar char="•"/>
            </a:pPr>
            <a:r>
              <a:rPr lang="en-GB" sz="1800">
                <a:latin typeface="Arial"/>
                <a:ea typeface="Arial"/>
                <a:cs typeface="Arial"/>
                <a:sym typeface="Arial"/>
              </a:rPr>
              <a:t>Converted numeric columns (price, trip, year) to integers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Extracted brand name from Car_Name</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Converted Posting_Date into uniform date format</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Created additional columns if needed (e.g., car age = current year − model year)</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Grouped data by brand, owner, and location for better analysis</a:t>
            </a:r>
            <a:endParaRPr sz="1800">
              <a:latin typeface="Arial"/>
              <a:ea typeface="Arial"/>
              <a:cs typeface="Arial"/>
              <a:sym typeface="Arial"/>
            </a:endParaRPr>
          </a:p>
          <a:p>
            <a:pPr marL="0" lvl="0" indent="0" algn="l" rtl="0">
              <a:lnSpc>
                <a:spcPct val="70000"/>
              </a:lnSpc>
              <a:spcBef>
                <a:spcPts val="800"/>
              </a:spcBef>
              <a:spcAft>
                <a:spcPts val="0"/>
              </a:spcAft>
              <a:buNone/>
            </a:pPr>
            <a:endParaRPr sz="1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Univariate Analysis Steps :</a:t>
            </a:r>
            <a:endParaRPr sz="2300" b="1"/>
          </a:p>
          <a:p>
            <a:pPr marL="0" lvl="0" indent="0" algn="l" rtl="0">
              <a:lnSpc>
                <a:spcPct val="90000"/>
              </a:lnSpc>
              <a:spcBef>
                <a:spcPts val="0"/>
              </a:spcBef>
              <a:spcAft>
                <a:spcPts val="0"/>
              </a:spcAft>
              <a:buClr>
                <a:srgbClr val="FF0000"/>
              </a:buClr>
              <a:buSzPts val="3300"/>
              <a:buFont typeface="Calibri"/>
              <a:buNone/>
            </a:pPr>
            <a:r>
              <a:rPr lang="en-GB" sz="2300" b="1"/>
              <a:t>Distribution of car prices(</a:t>
            </a:r>
            <a:r>
              <a:rPr lang="en-GB" sz="1500" b="1"/>
              <a:t>Numerical (Continuous) -&gt; Numerical (Discrete)</a:t>
            </a:r>
            <a:r>
              <a:rPr lang="en-GB" sz="2300" b="1"/>
              <a:t>)</a:t>
            </a:r>
            <a:endParaRPr sz="2300" b="1"/>
          </a:p>
        </p:txBody>
      </p:sp>
      <p:sp>
        <p:nvSpPr>
          <p:cNvPr id="195" name="Google Shape;195;p33"/>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This histogram is showing the distribution of car prices where x-axis represents price.</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Blue curve represents the KDE(kernal density estimate).</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majority of second hand cars in this dataset are concentrated at the lower end of the price spectrum.</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As the price increases the number of the cars drops sharply.</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Here more affordable vehicles are generally more numerous and accessible to wider range of buyers,</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where luxury or high end models covers small portion of the market</a:t>
            </a:r>
            <a:endParaRPr sz="1600">
              <a:latin typeface="Arial"/>
              <a:ea typeface="Arial"/>
              <a:cs typeface="Arial"/>
              <a:sym typeface="Arial"/>
            </a:endParaRPr>
          </a:p>
        </p:txBody>
      </p:sp>
      <p:pic>
        <p:nvPicPr>
          <p:cNvPr id="196" name="Google Shape;196;p33" title="Screenshot 2025-11-25 223040.png"/>
          <p:cNvPicPr preferRelativeResize="0"/>
          <p:nvPr/>
        </p:nvPicPr>
        <p:blipFill>
          <a:blip r:embed="rId3">
            <a:alphaModFix/>
          </a:blip>
          <a:stretch>
            <a:fillRect/>
          </a:stretch>
        </p:blipFill>
        <p:spPr>
          <a:xfrm>
            <a:off x="5498225" y="1160300"/>
            <a:ext cx="3493376" cy="2945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Number of models per year(</a:t>
            </a:r>
            <a:r>
              <a:rPr lang="en-GB" sz="1500" b="1"/>
              <a:t> Numerical (Discrete) -&gt;Numerical (Discrete)</a:t>
            </a:r>
            <a:r>
              <a:rPr lang="en-GB" sz="2300" b="1"/>
              <a:t>)</a:t>
            </a:r>
            <a:endParaRPr b="1">
              <a:solidFill>
                <a:srgbClr val="FF0000"/>
              </a:solidFill>
            </a:endParaRPr>
          </a:p>
        </p:txBody>
      </p:sp>
      <p:sp>
        <p:nvSpPr>
          <p:cNvPr id="202" name="Google Shape;202;p34"/>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This is a bar chart represent the count of car models for each manufacturing year where x-axis displays the Model Year and the y-axis shows the count of cars from that year.</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chart shows very few listings for cars manufactured in the early 2000s.</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years 2015, 2016, and 2017 show the highest counts of models with bars reaching above 35 and even 40. </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There's a sharp decline in the count for the most recent years (2023, 2024, 2025). </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This is expected as cars from these years are very new and are less likely to be sold as second-hand. </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p:txBody>
      </p:sp>
      <p:pic>
        <p:nvPicPr>
          <p:cNvPr id="203" name="Google Shape;203;p34" title="Screenshot 2025-11-25 223103.png"/>
          <p:cNvPicPr preferRelativeResize="0"/>
          <p:nvPr/>
        </p:nvPicPr>
        <p:blipFill>
          <a:blip r:embed="rId3">
            <a:alphaModFix/>
          </a:blip>
          <a:stretch>
            <a:fillRect/>
          </a:stretch>
        </p:blipFill>
        <p:spPr>
          <a:xfrm>
            <a:off x="5563175" y="1160291"/>
            <a:ext cx="3428425" cy="28806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5"/>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Engine type distribution(</a:t>
            </a:r>
            <a:r>
              <a:rPr lang="en-GB" sz="1500" b="1"/>
              <a:t>Numerical (Continuous) </a:t>
            </a:r>
            <a:r>
              <a:rPr lang="en-GB" sz="2300" b="1"/>
              <a:t>)</a:t>
            </a:r>
            <a:endParaRPr b="1">
              <a:solidFill>
                <a:srgbClr val="FF0000"/>
              </a:solidFill>
            </a:endParaRPr>
          </a:p>
        </p:txBody>
      </p:sp>
      <p:sp>
        <p:nvSpPr>
          <p:cNvPr id="209" name="Google Shape;209;p35"/>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endParaRPr sz="18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This is a pie chart titled "ENGINE TYPE DISTRIBUTION". </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It displays the proportion of different engine types (Petrol, Diesel, Hybrids) found in your scraped car dataset.</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chart clearly shows that the vast majority of second-hand cars in your dataset run on either Petrol (56.1%) or Diesel (43.4%). </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Hybrid cars represent a very small fraction (0.5%) of the market. </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While the number is low, their presence indicates the beginning of a shift towards more fuel-efficient and environmentally friendly options</a:t>
            </a:r>
            <a:endParaRPr sz="1600">
              <a:latin typeface="Arial"/>
              <a:ea typeface="Arial"/>
              <a:cs typeface="Arial"/>
              <a:sym typeface="Arial"/>
            </a:endParaRPr>
          </a:p>
          <a:p>
            <a:pPr marL="0" lvl="0" indent="0" algn="l" rtl="0">
              <a:lnSpc>
                <a:spcPct val="70000"/>
              </a:lnSpc>
              <a:spcBef>
                <a:spcPts val="800"/>
              </a:spcBef>
              <a:spcAft>
                <a:spcPts val="0"/>
              </a:spcAft>
              <a:buNone/>
            </a:pPr>
            <a:endParaRPr sz="1800">
              <a:latin typeface="Arial"/>
              <a:ea typeface="Arial"/>
              <a:cs typeface="Arial"/>
              <a:sym typeface="Arial"/>
            </a:endParaRPr>
          </a:p>
        </p:txBody>
      </p:sp>
      <p:pic>
        <p:nvPicPr>
          <p:cNvPr id="210" name="Google Shape;210;p35" title="Screenshot 2025-11-25 223119.png"/>
          <p:cNvPicPr preferRelativeResize="0"/>
          <p:nvPr/>
        </p:nvPicPr>
        <p:blipFill>
          <a:blip r:embed="rId3">
            <a:alphaModFix/>
          </a:blip>
          <a:stretch>
            <a:fillRect/>
          </a:stretch>
        </p:blipFill>
        <p:spPr>
          <a:xfrm>
            <a:off x="5563175" y="1160291"/>
            <a:ext cx="3428425" cy="320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6"/>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Trip KM outlier check(</a:t>
            </a:r>
            <a:r>
              <a:rPr lang="en-GB" sz="1500" b="1"/>
              <a:t>Numerical (Continuous)</a:t>
            </a:r>
            <a:r>
              <a:rPr lang="en-GB" sz="2300" b="1"/>
              <a:t>)</a:t>
            </a:r>
            <a:endParaRPr b="1">
              <a:solidFill>
                <a:srgbClr val="FF0000"/>
              </a:solidFill>
            </a:endParaRPr>
          </a:p>
        </p:txBody>
      </p:sp>
      <p:sp>
        <p:nvSpPr>
          <p:cNvPr id="216" name="Google Shape;216;p36"/>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r>
              <a:rPr lang="en-GB" sz="1600">
                <a:latin typeface="Arial"/>
                <a:ea typeface="Arial"/>
                <a:cs typeface="Arial"/>
                <a:sym typeface="Arial"/>
              </a:rPr>
              <a:t>This is a box plot titled "Trip KM Outlier Check".</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 It visualizes the distribution of the Total_trip (kilometers driven) for the cars of the dataset with a focus on identifying outliers where y-axis represents the Total_trip in kilometers</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main box is very narrow and located at the lower end of the Total trip scale.This indicates that a large proportion of the cars in your dataset have relatively low total trip, likely below 150,000 km.</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For a buyer, car with high total trip can imply more wear and tear, potentially leading to higher maintenance costs. For a seller, it might mean a lower asking price.</a:t>
            </a:r>
            <a:endParaRPr sz="1600">
              <a:latin typeface="Arial"/>
              <a:ea typeface="Arial"/>
              <a:cs typeface="Arial"/>
              <a:sym typeface="Arial"/>
            </a:endParaRPr>
          </a:p>
        </p:txBody>
      </p:sp>
      <p:pic>
        <p:nvPicPr>
          <p:cNvPr id="217" name="Google Shape;217;p36" title="Screenshot 2025-11-25 223133.png"/>
          <p:cNvPicPr preferRelativeResize="0"/>
          <p:nvPr/>
        </p:nvPicPr>
        <p:blipFill>
          <a:blip r:embed="rId3">
            <a:alphaModFix/>
          </a:blip>
          <a:stretch>
            <a:fillRect/>
          </a:stretch>
        </p:blipFill>
        <p:spPr>
          <a:xfrm>
            <a:off x="5563175" y="1160291"/>
            <a:ext cx="3428424" cy="2505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7"/>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Bivariate Analysis Steps :</a:t>
            </a:r>
            <a:endParaRPr sz="2300" b="1"/>
          </a:p>
          <a:p>
            <a:pPr marL="0" lvl="0" indent="0" algn="l" rtl="0">
              <a:lnSpc>
                <a:spcPct val="90000"/>
              </a:lnSpc>
              <a:spcBef>
                <a:spcPts val="0"/>
              </a:spcBef>
              <a:spcAft>
                <a:spcPts val="0"/>
              </a:spcAft>
              <a:buClr>
                <a:srgbClr val="FF0000"/>
              </a:buClr>
              <a:buSzPts val="3300"/>
              <a:buFont typeface="Calibri"/>
              <a:buNone/>
            </a:pPr>
            <a:r>
              <a:rPr lang="en-GB" sz="2300" b="1"/>
              <a:t>Price and Model year(</a:t>
            </a:r>
            <a:r>
              <a:rPr lang="en-GB" sz="1500" b="1"/>
              <a:t>Numerical (Continuous) - Numerical (Discrete)</a:t>
            </a:r>
            <a:r>
              <a:rPr lang="en-GB" sz="2300" b="1"/>
              <a:t>)</a:t>
            </a:r>
            <a:endParaRPr sz="2300" b="1"/>
          </a:p>
        </p:txBody>
      </p:sp>
      <p:sp>
        <p:nvSpPr>
          <p:cNvPr id="223" name="Google Shape;223;p37"/>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This is a scatter plot titled "PRICE AND MODEL YEARS". </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It illustrates the relationship between the Model year of a car and its Price where x-axis represents the Model year and the y-axis represents the Price.</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Newer Cars, Higher Prices: As expected in the used car market  there's a clear general trend, newer cars tend to command higher prices. </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The cluster of points shifts upwards as you move from left to right on the x-axis.</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For older cars (e.g., before 2010), the prices are generally low and have a relatively narrow range</a:t>
            </a:r>
            <a:endParaRPr sz="1600">
              <a:latin typeface="Arial"/>
              <a:ea typeface="Arial"/>
              <a:cs typeface="Arial"/>
              <a:sym typeface="Arial"/>
            </a:endParaRPr>
          </a:p>
        </p:txBody>
      </p:sp>
      <p:pic>
        <p:nvPicPr>
          <p:cNvPr id="224" name="Google Shape;224;p37" title="Screenshot 2025-11-25 223154.png"/>
          <p:cNvPicPr preferRelativeResize="0"/>
          <p:nvPr/>
        </p:nvPicPr>
        <p:blipFill>
          <a:blip r:embed="rId3">
            <a:alphaModFix/>
          </a:blip>
          <a:stretch>
            <a:fillRect/>
          </a:stretch>
        </p:blipFill>
        <p:spPr>
          <a:xfrm>
            <a:off x="5563175" y="1160291"/>
            <a:ext cx="3428425" cy="2756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Price and Total trip(</a:t>
            </a:r>
            <a:r>
              <a:rPr lang="en-GB" sz="1500" b="1"/>
              <a:t>Numerical (Continuous) -  Numerical (Continuous)</a:t>
            </a:r>
            <a:r>
              <a:rPr lang="en-GB" sz="2300" b="1"/>
              <a:t>)</a:t>
            </a:r>
            <a:endParaRPr b="1">
              <a:solidFill>
                <a:srgbClr val="FF0000"/>
              </a:solidFill>
            </a:endParaRPr>
          </a:p>
        </p:txBody>
      </p:sp>
      <p:sp>
        <p:nvSpPr>
          <p:cNvPr id="230" name="Google Shape;230;p38"/>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r>
              <a:rPr lang="en-GB" sz="1600">
                <a:latin typeface="Arial"/>
                <a:ea typeface="Arial"/>
                <a:cs typeface="Arial"/>
                <a:sym typeface="Arial"/>
              </a:rPr>
              <a:t>This is a scatter plot showing the relationship between a car's Price and its Total_trip.</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Higher Mileage,Lower Price: You can see a general downward slope in the cluster of dots. This means that as the Total_trip increases,the Price of the car generally tends to decrease.</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A large number of cars are clustered in the bottom-left corner, indicating many cars have relatively low mileage and are priced affordably.</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There are dots high up on the y-axis but close to the left. These represent expensive cars with low mileage, likely premium or luxury vehicles</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Conversely, there are dots far to the right (high Total_trip) but low on the y-axis. These are cars that have been driven a lot and are therefore priced much lower</a:t>
            </a:r>
            <a:endParaRPr sz="1600">
              <a:latin typeface="Arial"/>
              <a:ea typeface="Arial"/>
              <a:cs typeface="Arial"/>
              <a:sym typeface="Arial"/>
            </a:endParaRPr>
          </a:p>
        </p:txBody>
      </p:sp>
      <p:pic>
        <p:nvPicPr>
          <p:cNvPr id="231" name="Google Shape;231;p38" title="Screenshot 2025-11-25 223207.png"/>
          <p:cNvPicPr preferRelativeResize="0"/>
          <p:nvPr/>
        </p:nvPicPr>
        <p:blipFill>
          <a:blip r:embed="rId3">
            <a:alphaModFix/>
          </a:blip>
          <a:stretch>
            <a:fillRect/>
          </a:stretch>
        </p:blipFill>
        <p:spPr>
          <a:xfrm>
            <a:off x="5563175" y="1160291"/>
            <a:ext cx="3428424" cy="27485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Price and Engine Type(</a:t>
            </a:r>
            <a:r>
              <a:rPr lang="en-GB" sz="1500" b="1"/>
              <a:t>Numerical (Continuous) - Categorical (Petrol, Diesel, Hybrid)</a:t>
            </a:r>
            <a:r>
              <a:rPr lang="en-GB" sz="2300" b="1"/>
              <a:t>)</a:t>
            </a:r>
            <a:endParaRPr b="1">
              <a:solidFill>
                <a:srgbClr val="FF0000"/>
              </a:solidFill>
            </a:endParaRPr>
          </a:p>
        </p:txBody>
      </p:sp>
      <p:sp>
        <p:nvSpPr>
          <p:cNvPr id="237" name="Google Shape;237;p39"/>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r>
              <a:rPr lang="en-GB" sz="1600">
                <a:latin typeface="Arial"/>
                <a:ea typeface="Arial"/>
                <a:cs typeface="Arial"/>
                <a:sym typeface="Arial"/>
              </a:rPr>
              <a:t>This is a box plot titled "PRICE AND ENGINE TYPE".</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It compares the distribution of Price across different Engine Type categories: Petrol, Diesel, and Hybrids.</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majority of petrol cars are concentrated at the lower price range, with the box indicating that 50% of petrol cars are priced relatively low.</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Diesel cars generally show a higher median price compared to petrol cars, with the box for diesel being noticeably higher on the price scale. This could be due to diesel engines often being found in larger vehicles (SUVs, MUVs) or premium segments.</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Hybrid cars, while very few in number (as seen in the "ENGINE TYPE DISTRIBUTION" pie chart), appear to have a relatively narrow price range in your dataset.</a:t>
            </a:r>
            <a:endParaRPr sz="1600">
              <a:latin typeface="Arial"/>
              <a:ea typeface="Arial"/>
              <a:cs typeface="Arial"/>
              <a:sym typeface="Arial"/>
            </a:endParaRPr>
          </a:p>
        </p:txBody>
      </p:sp>
      <p:pic>
        <p:nvPicPr>
          <p:cNvPr id="238" name="Google Shape;238;p39" title="Screenshot 2025-11-25 223222.png"/>
          <p:cNvPicPr preferRelativeResize="0"/>
          <p:nvPr/>
        </p:nvPicPr>
        <p:blipFill>
          <a:blip r:embed="rId3">
            <a:alphaModFix/>
          </a:blip>
          <a:stretch>
            <a:fillRect/>
          </a:stretch>
        </p:blipFill>
        <p:spPr>
          <a:xfrm>
            <a:off x="5563175" y="1160291"/>
            <a:ext cx="3428426" cy="273787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0"/>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Price and Transmission(</a:t>
            </a:r>
            <a:r>
              <a:rPr lang="en-GB" sz="1500" b="1"/>
              <a:t>Numerical (Continuous) -&gt;Categorical (Manual, Automatic)</a:t>
            </a:r>
            <a:r>
              <a:rPr lang="en-GB" sz="2300" b="1"/>
              <a:t>)</a:t>
            </a:r>
            <a:endParaRPr b="1">
              <a:solidFill>
                <a:srgbClr val="FF0000"/>
              </a:solidFill>
            </a:endParaRPr>
          </a:p>
        </p:txBody>
      </p:sp>
      <p:sp>
        <p:nvSpPr>
          <p:cNvPr id="244" name="Google Shape;244;p40"/>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This is a box plot comparing the Price distribution for cars with different Transmission types: Manual, Automatic.</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The box for manual cars is relatively low on the price scale, indicating that most manual cars are more affordable.</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The box for automatic cars is significantly higher on the price scale, showing that automatic cars generally command higher prices.</a:t>
            </a: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This plot clearly shows that automatic transmission cars are generally more expensive in the second-hand market compared to manual transmission cars, reflecting their higher initial cost and often higher demand.</a:t>
            </a:r>
            <a:endParaRPr sz="1600">
              <a:latin typeface="Arial"/>
              <a:ea typeface="Arial"/>
              <a:cs typeface="Arial"/>
              <a:sym typeface="Arial"/>
            </a:endParaRPr>
          </a:p>
        </p:txBody>
      </p:sp>
      <p:pic>
        <p:nvPicPr>
          <p:cNvPr id="245" name="Google Shape;245;p40" title="Screenshot 2025-11-26 111149.png"/>
          <p:cNvPicPr preferRelativeResize="0"/>
          <p:nvPr/>
        </p:nvPicPr>
        <p:blipFill>
          <a:blip r:embed="rId3">
            <a:alphaModFix/>
          </a:blip>
          <a:stretch>
            <a:fillRect/>
          </a:stretch>
        </p:blipFill>
        <p:spPr>
          <a:xfrm>
            <a:off x="5563175" y="1160291"/>
            <a:ext cx="3428424" cy="27534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1"/>
          <p:cNvSpPr txBox="1">
            <a:spLocks noGrp="1"/>
          </p:cNvSpPr>
          <p:nvPr>
            <p:ph type="title"/>
          </p:nvPr>
        </p:nvSpPr>
        <p:spPr>
          <a:xfrm>
            <a:off x="156350" y="0"/>
            <a:ext cx="87876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dirty="0"/>
              <a:t> Counts of cars based on transmission(</a:t>
            </a:r>
            <a:r>
              <a:rPr lang="en-GB" sz="1500" b="1" dirty="0"/>
              <a:t>Numerical (Discrete)- Categorical (Manual, Automatic, --) </a:t>
            </a:r>
            <a:r>
              <a:rPr lang="en-GB" sz="2300" b="1" dirty="0"/>
              <a:t>)</a:t>
            </a:r>
            <a:endParaRPr b="1" dirty="0">
              <a:solidFill>
                <a:srgbClr val="FF0000"/>
              </a:solidFill>
            </a:endParaRPr>
          </a:p>
        </p:txBody>
      </p:sp>
      <p:sp>
        <p:nvSpPr>
          <p:cNvPr id="251" name="Google Shape;251;p41"/>
          <p:cNvSpPr txBox="1">
            <a:spLocks noGrp="1"/>
          </p:cNvSpPr>
          <p:nvPr>
            <p:ph type="body" idx="1"/>
          </p:nvPr>
        </p:nvSpPr>
        <p:spPr>
          <a:xfrm>
            <a:off x="470375" y="840825"/>
            <a:ext cx="4940400" cy="4068900"/>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r>
              <a:rPr lang="en-GB" sz="1600">
                <a:latin typeface="Arial"/>
                <a:ea typeface="Arial"/>
                <a:cs typeface="Arial"/>
                <a:sym typeface="Arial"/>
              </a:rPr>
              <a:t>This is a table that shows the count of cars based on their Engine Type (Diesel, Hybrids, Petrol) and Transmission type (Automatic, Manual).</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Manual Dominance: Across all engine types, manual transmission cars are more numerous than automatic cars in your dataset.</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Petrol: 158 Manual vs. 65 Automatic</a:t>
            </a: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Diesel: 121 Manual vs. 51 Automatic</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Hybrids are Rare: There are only 2 hybrid cars in your dataset, one automatic and one manual.</a:t>
            </a:r>
            <a:endParaRPr sz="1600">
              <a:latin typeface="Arial"/>
              <a:ea typeface="Arial"/>
              <a:cs typeface="Arial"/>
              <a:sym typeface="Arial"/>
            </a:endParaRPr>
          </a:p>
          <a:p>
            <a:pPr marL="0" lvl="0" indent="0" algn="l" rtl="0">
              <a:lnSpc>
                <a:spcPct val="70000"/>
              </a:lnSpc>
              <a:spcBef>
                <a:spcPts val="800"/>
              </a:spcBef>
              <a:spcAft>
                <a:spcPts val="0"/>
              </a:spcAft>
              <a:buNone/>
            </a:pPr>
            <a:endParaRPr sz="1600">
              <a:latin typeface="Arial"/>
              <a:ea typeface="Arial"/>
              <a:cs typeface="Arial"/>
              <a:sym typeface="Arial"/>
            </a:endParaRPr>
          </a:p>
          <a:p>
            <a:pPr marL="0" lvl="0" indent="0" algn="l" rtl="0">
              <a:lnSpc>
                <a:spcPct val="70000"/>
              </a:lnSpc>
              <a:spcBef>
                <a:spcPts val="800"/>
              </a:spcBef>
              <a:spcAft>
                <a:spcPts val="0"/>
              </a:spcAft>
              <a:buNone/>
            </a:pPr>
            <a:r>
              <a:rPr lang="en-GB" sz="1600">
                <a:latin typeface="Arial"/>
                <a:ea typeface="Arial"/>
                <a:cs typeface="Arial"/>
                <a:sym typeface="Arial"/>
              </a:rPr>
              <a:t>This confirms their very low representation in the second-hand market.</a:t>
            </a:r>
            <a:endParaRPr sz="1600">
              <a:latin typeface="Arial"/>
              <a:ea typeface="Arial"/>
              <a:cs typeface="Arial"/>
              <a:sym typeface="Arial"/>
            </a:endParaRPr>
          </a:p>
          <a:p>
            <a:pPr marL="0" lvl="0" indent="0" algn="l" rtl="0">
              <a:lnSpc>
                <a:spcPct val="70000"/>
              </a:lnSpc>
              <a:spcBef>
                <a:spcPts val="800"/>
              </a:spcBef>
              <a:spcAft>
                <a:spcPts val="0"/>
              </a:spcAft>
              <a:buNone/>
            </a:pPr>
            <a:endParaRPr sz="1800">
              <a:latin typeface="Arial"/>
              <a:ea typeface="Arial"/>
              <a:cs typeface="Arial"/>
              <a:sym typeface="Arial"/>
            </a:endParaRPr>
          </a:p>
          <a:p>
            <a:pPr marL="0" lvl="0" indent="0" algn="l" rtl="0">
              <a:lnSpc>
                <a:spcPct val="70000"/>
              </a:lnSpc>
              <a:spcBef>
                <a:spcPts val="800"/>
              </a:spcBef>
              <a:spcAft>
                <a:spcPts val="0"/>
              </a:spcAft>
              <a:buClr>
                <a:schemeClr val="dk1"/>
              </a:buClr>
              <a:buSzPts val="1100"/>
              <a:buFont typeface="Arial"/>
              <a:buNone/>
            </a:pPr>
            <a:endParaRPr sz="1800">
              <a:latin typeface="Arial"/>
              <a:ea typeface="Arial"/>
              <a:cs typeface="Arial"/>
              <a:sym typeface="Arial"/>
            </a:endParaRPr>
          </a:p>
          <a:p>
            <a:pPr marL="0" lvl="0" indent="0" algn="l" rtl="0">
              <a:lnSpc>
                <a:spcPct val="70000"/>
              </a:lnSpc>
              <a:spcBef>
                <a:spcPts val="800"/>
              </a:spcBef>
              <a:spcAft>
                <a:spcPts val="0"/>
              </a:spcAft>
              <a:buNone/>
            </a:pPr>
            <a:endParaRPr sz="1800">
              <a:latin typeface="Arial"/>
              <a:ea typeface="Arial"/>
              <a:cs typeface="Arial"/>
              <a:sym typeface="Arial"/>
            </a:endParaRPr>
          </a:p>
        </p:txBody>
      </p:sp>
      <p:pic>
        <p:nvPicPr>
          <p:cNvPr id="252" name="Google Shape;252;p41" title="Screenshot 2025-11-26 114812.png"/>
          <p:cNvPicPr preferRelativeResize="0"/>
          <p:nvPr/>
        </p:nvPicPr>
        <p:blipFill>
          <a:blip r:embed="rId3">
            <a:alphaModFix/>
          </a:blip>
          <a:stretch>
            <a:fillRect/>
          </a:stretch>
        </p:blipFill>
        <p:spPr>
          <a:xfrm>
            <a:off x="5410775" y="1437550"/>
            <a:ext cx="3662450" cy="1924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152800" y="273850"/>
            <a:ext cx="8866500" cy="9942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FF0000"/>
              </a:buClr>
              <a:buSzPct val="143478"/>
              <a:buFont typeface="Calibri"/>
              <a:buNone/>
            </a:pPr>
            <a:r>
              <a:rPr lang="en-GB" sz="2300" b="1"/>
              <a:t> Multivariate analysis -&gt; Heatmap </a:t>
            </a:r>
            <a:endParaRPr sz="2300" b="1"/>
          </a:p>
          <a:p>
            <a:pPr marL="0" lvl="0" indent="0" algn="l" rtl="0">
              <a:lnSpc>
                <a:spcPct val="90000"/>
              </a:lnSpc>
              <a:spcBef>
                <a:spcPts val="0"/>
              </a:spcBef>
              <a:spcAft>
                <a:spcPts val="0"/>
              </a:spcAft>
              <a:buClr>
                <a:srgbClr val="FF0000"/>
              </a:buClr>
              <a:buSzPct val="143478"/>
              <a:buFont typeface="Calibri"/>
              <a:buNone/>
            </a:pPr>
            <a:r>
              <a:rPr lang="en-GB" sz="2300" b="1"/>
              <a:t>(</a:t>
            </a:r>
            <a:r>
              <a:rPr lang="en-GB" sz="1500" b="1"/>
              <a:t>Price: Numerical (Continuous),Total_trip: Numerical (Continuous),Model_Year: Numerical (Discrete),Owner: Numerical (Discrete)</a:t>
            </a:r>
            <a:r>
              <a:rPr lang="en-GB" sz="2300" b="1"/>
              <a:t>)</a:t>
            </a:r>
            <a:endParaRPr b="1">
              <a:solidFill>
                <a:srgbClr val="FF0000"/>
              </a:solidFill>
            </a:endParaRPr>
          </a:p>
        </p:txBody>
      </p:sp>
      <p:pic>
        <p:nvPicPr>
          <p:cNvPr id="258" name="Google Shape;258;p42" title="Screenshot 2025-11-25 223305.png"/>
          <p:cNvPicPr preferRelativeResize="0"/>
          <p:nvPr/>
        </p:nvPicPr>
        <p:blipFill>
          <a:blip r:embed="rId3">
            <a:alphaModFix/>
          </a:blip>
          <a:stretch>
            <a:fillRect/>
          </a:stretch>
        </p:blipFill>
        <p:spPr>
          <a:xfrm>
            <a:off x="301325" y="1348444"/>
            <a:ext cx="3897399" cy="3292700"/>
          </a:xfrm>
          <a:prstGeom prst="rect">
            <a:avLst/>
          </a:prstGeom>
          <a:noFill/>
          <a:ln>
            <a:noFill/>
          </a:ln>
        </p:spPr>
      </p:pic>
      <p:sp>
        <p:nvSpPr>
          <p:cNvPr id="259" name="Google Shape;259;p42"/>
          <p:cNvSpPr txBox="1">
            <a:spLocks noGrp="1"/>
          </p:cNvSpPr>
          <p:nvPr>
            <p:ph type="body" idx="2"/>
          </p:nvPr>
        </p:nvSpPr>
        <p:spPr>
          <a:xfrm>
            <a:off x="4676023" y="1067159"/>
            <a:ext cx="3886200" cy="3524700"/>
          </a:xfrm>
          <a:prstGeom prst="rect">
            <a:avLst/>
          </a:prstGeom>
        </p:spPr>
        <p:txBody>
          <a:bodyPr spcFirstLastPara="1" wrap="square" lIns="68575" tIns="34275" rIns="68575" bIns="34275" anchor="t" anchorCtr="0">
            <a:noAutofit/>
          </a:bodyPr>
          <a:lstStyle/>
          <a:p>
            <a:pPr marL="0" lvl="0" indent="0" algn="l" rtl="0">
              <a:lnSpc>
                <a:spcPct val="80000"/>
              </a:lnSpc>
              <a:spcBef>
                <a:spcPts val="800"/>
              </a:spcBef>
              <a:spcAft>
                <a:spcPts val="0"/>
              </a:spcAft>
              <a:buClr>
                <a:schemeClr val="dk1"/>
              </a:buClr>
              <a:buSzPts val="440"/>
              <a:buFont typeface="Arial"/>
              <a:buNone/>
            </a:pPr>
            <a:r>
              <a:rPr lang="en-GB" sz="1040" dirty="0"/>
              <a:t>1. Model Year strongly affects Price</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Correlation = 0.44 (positive)</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Newer vehicles tend to have higher prices.</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2. More Owners → Lower Price</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Correlation = –0.13</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Vehicles with more previous owners usually have slightly lower prices.</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3. Total Trips has almost no effect on Price</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Correlation = –0.032</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Trip count does not significantly influence the price.</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4. Model Year &amp; Owners</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Correlation = –0.34</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Newer vehicles typically have fewer past owners.</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5. Overall</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Price is mainly influenced by Model Year.</a:t>
            </a:r>
            <a:endParaRPr sz="1040" dirty="0"/>
          </a:p>
          <a:p>
            <a:pPr marL="0" lvl="0" indent="0" algn="l" rtl="0">
              <a:lnSpc>
                <a:spcPct val="80000"/>
              </a:lnSpc>
              <a:spcBef>
                <a:spcPts val="800"/>
              </a:spcBef>
              <a:spcAft>
                <a:spcPts val="0"/>
              </a:spcAft>
              <a:buClr>
                <a:schemeClr val="dk1"/>
              </a:buClr>
              <a:buSzPts val="440"/>
              <a:buFont typeface="Arial"/>
              <a:buNone/>
            </a:pPr>
            <a:r>
              <a:rPr lang="en-GB" sz="1040" dirty="0"/>
              <a:t>Other variables show weak or negligible correlation.</a:t>
            </a:r>
            <a:endParaRPr sz="1040" dirty="0"/>
          </a:p>
          <a:p>
            <a:pPr marL="0" lvl="0" indent="0" algn="l" rtl="0">
              <a:lnSpc>
                <a:spcPct val="80000"/>
              </a:lnSpc>
              <a:spcBef>
                <a:spcPts val="800"/>
              </a:spcBef>
              <a:spcAft>
                <a:spcPts val="0"/>
              </a:spcAft>
              <a:buSzPts val="440"/>
              <a:buNone/>
            </a:pPr>
            <a:endParaRPr sz="10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3"/>
          <p:cNvSpPr txBox="1">
            <a:spLocks noGrp="1"/>
          </p:cNvSpPr>
          <p:nvPr>
            <p:ph type="title"/>
          </p:nvPr>
        </p:nvSpPr>
        <p:spPr>
          <a:xfrm>
            <a:off x="628650" y="68877"/>
            <a:ext cx="7886700" cy="581100"/>
          </a:xfrm>
          <a:prstGeom prst="rect">
            <a:avLst/>
          </a:prstGeom>
        </p:spPr>
        <p:txBody>
          <a:bodyPr spcFirstLastPara="1" wrap="square" lIns="68575" tIns="34275" rIns="68575" bIns="34275" anchor="ctr" anchorCtr="0">
            <a:normAutofit/>
          </a:bodyPr>
          <a:lstStyle/>
          <a:p>
            <a:pPr marL="228600" lvl="0" indent="-308610" algn="l" rtl="0">
              <a:spcBef>
                <a:spcPts val="1000"/>
              </a:spcBef>
              <a:spcAft>
                <a:spcPts val="0"/>
              </a:spcAft>
              <a:buSzPts val="2800"/>
              <a:buFont typeface="Arial"/>
              <a:buChar char="•"/>
            </a:pPr>
            <a:r>
              <a:rPr lang="en-GB" sz="2800" b="1"/>
              <a:t>Key Business Question</a:t>
            </a:r>
            <a:endParaRPr/>
          </a:p>
        </p:txBody>
      </p:sp>
      <p:sp>
        <p:nvSpPr>
          <p:cNvPr id="265" name="Google Shape;265;p43"/>
          <p:cNvSpPr txBox="1">
            <a:spLocks noGrp="1"/>
          </p:cNvSpPr>
          <p:nvPr>
            <p:ph type="body" idx="1"/>
          </p:nvPr>
        </p:nvSpPr>
        <p:spPr>
          <a:xfrm>
            <a:off x="628650" y="832850"/>
            <a:ext cx="7886700" cy="37998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GB" sz="2000">
                <a:latin typeface="Times New Roman"/>
                <a:ea typeface="Times New Roman"/>
                <a:cs typeface="Times New Roman"/>
                <a:sym typeface="Times New Roman"/>
              </a:rPr>
              <a:t>1. How does car price vary by brand?</a:t>
            </a:r>
            <a:endParaRPr sz="2000">
              <a:latin typeface="Times New Roman"/>
              <a:ea typeface="Times New Roman"/>
              <a:cs typeface="Times New Roman"/>
              <a:sym typeface="Times New Roman"/>
            </a:endParaRPr>
          </a:p>
          <a:p>
            <a:pPr marL="0" lvl="0" indent="0" algn="l" rtl="0">
              <a:spcBef>
                <a:spcPts val="800"/>
              </a:spcBef>
              <a:spcAft>
                <a:spcPts val="0"/>
              </a:spcAft>
              <a:buNone/>
            </a:pPr>
            <a:r>
              <a:rPr lang="en-GB" sz="2000">
                <a:latin typeface="Times New Roman"/>
                <a:ea typeface="Times New Roman"/>
                <a:cs typeface="Times New Roman"/>
                <a:sym typeface="Times New Roman"/>
              </a:rPr>
              <a:t>2.MOST COMMONLY SOLD BRANDS ON OLX</a:t>
            </a:r>
            <a:endParaRPr sz="2000">
              <a:latin typeface="Times New Roman"/>
              <a:ea typeface="Times New Roman"/>
              <a:cs typeface="Times New Roman"/>
              <a:sym typeface="Times New Roman"/>
            </a:endParaRPr>
          </a:p>
        </p:txBody>
      </p:sp>
      <p:pic>
        <p:nvPicPr>
          <p:cNvPr id="266" name="Google Shape;266;p43" title="image_2025-11-26_235618491.png"/>
          <p:cNvPicPr preferRelativeResize="0"/>
          <p:nvPr/>
        </p:nvPicPr>
        <p:blipFill>
          <a:blip r:embed="rId3">
            <a:alphaModFix/>
          </a:blip>
          <a:stretch>
            <a:fillRect/>
          </a:stretch>
        </p:blipFill>
        <p:spPr>
          <a:xfrm>
            <a:off x="272825" y="1788350"/>
            <a:ext cx="5507700" cy="2974865"/>
          </a:xfrm>
          <a:prstGeom prst="rect">
            <a:avLst/>
          </a:prstGeom>
          <a:noFill/>
          <a:ln>
            <a:noFill/>
          </a:ln>
        </p:spPr>
      </p:pic>
      <p:pic>
        <p:nvPicPr>
          <p:cNvPr id="267" name="Google Shape;267;p43" title="Screenshot 2025-11-26 235257.png"/>
          <p:cNvPicPr preferRelativeResize="0"/>
          <p:nvPr/>
        </p:nvPicPr>
        <p:blipFill>
          <a:blip r:embed="rId4">
            <a:alphaModFix/>
          </a:blip>
          <a:stretch>
            <a:fillRect/>
          </a:stretch>
        </p:blipFill>
        <p:spPr>
          <a:xfrm>
            <a:off x="6029700" y="1881275"/>
            <a:ext cx="2677675" cy="2224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628650" y="273848"/>
            <a:ext cx="7886700" cy="6237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Conclusion:</a:t>
            </a:r>
            <a:endParaRPr/>
          </a:p>
        </p:txBody>
      </p:sp>
      <p:sp>
        <p:nvSpPr>
          <p:cNvPr id="273" name="Google Shape;273;p44"/>
          <p:cNvSpPr txBox="1">
            <a:spLocks noGrp="1"/>
          </p:cNvSpPr>
          <p:nvPr>
            <p:ph type="body" idx="1"/>
          </p:nvPr>
        </p:nvSpPr>
        <p:spPr>
          <a:xfrm>
            <a:off x="628650" y="897551"/>
            <a:ext cx="7886700" cy="3735000"/>
          </a:xfrm>
          <a:prstGeom prst="rect">
            <a:avLst/>
          </a:prstGeom>
        </p:spPr>
        <p:txBody>
          <a:bodyPr spcFirstLastPara="1" wrap="square" lIns="68575" tIns="34275" rIns="68575" bIns="34275" anchor="t" anchorCtr="0">
            <a:normAutofit fontScale="85000" lnSpcReduction="10000"/>
          </a:bodyPr>
          <a:lstStyle/>
          <a:p>
            <a:pPr marL="457200" lvl="0" indent="-287972" algn="l" rtl="0">
              <a:lnSpc>
                <a:spcPct val="115000"/>
              </a:lnSpc>
              <a:spcBef>
                <a:spcPts val="1200"/>
              </a:spcBef>
              <a:spcAft>
                <a:spcPts val="0"/>
              </a:spcAft>
              <a:buSzPct val="52380"/>
              <a:buChar char="●"/>
            </a:pPr>
            <a:r>
              <a:rPr lang="en-GB"/>
              <a:t>Newer cars show significantly higher resale value</a:t>
            </a:r>
            <a:br>
              <a:rPr lang="en-GB"/>
            </a:br>
            <a:endParaRPr/>
          </a:p>
          <a:p>
            <a:pPr marL="457200" lvl="0" indent="-287972" algn="l" rtl="0">
              <a:lnSpc>
                <a:spcPct val="115000"/>
              </a:lnSpc>
              <a:spcBef>
                <a:spcPts val="0"/>
              </a:spcBef>
              <a:spcAft>
                <a:spcPts val="0"/>
              </a:spcAft>
              <a:buSzPct val="52380"/>
              <a:buChar char="●"/>
            </a:pPr>
            <a:r>
              <a:rPr lang="en-GB"/>
              <a:t>Mileage is one of the strongest predictors of price</a:t>
            </a:r>
            <a:br>
              <a:rPr lang="en-GB"/>
            </a:br>
            <a:endParaRPr/>
          </a:p>
          <a:p>
            <a:pPr marL="457200" lvl="0" indent="-287972" algn="l" rtl="0">
              <a:lnSpc>
                <a:spcPct val="115000"/>
              </a:lnSpc>
              <a:spcBef>
                <a:spcPts val="0"/>
              </a:spcBef>
              <a:spcAft>
                <a:spcPts val="0"/>
              </a:spcAft>
              <a:buSzPct val="52380"/>
              <a:buChar char="●"/>
            </a:pPr>
            <a:r>
              <a:rPr lang="en-GB"/>
              <a:t>Cars with 1 owner sell at a premium compared to 2+ owners</a:t>
            </a:r>
            <a:br>
              <a:rPr lang="en-GB"/>
            </a:br>
            <a:endParaRPr/>
          </a:p>
          <a:p>
            <a:pPr marL="457200" lvl="0" indent="-287972" algn="l" rtl="0">
              <a:lnSpc>
                <a:spcPct val="115000"/>
              </a:lnSpc>
              <a:spcBef>
                <a:spcPts val="0"/>
              </a:spcBef>
              <a:spcAft>
                <a:spcPts val="0"/>
              </a:spcAft>
              <a:buSzPct val="52380"/>
              <a:buChar char="●"/>
            </a:pPr>
            <a:r>
              <a:rPr lang="en-GB"/>
              <a:t>Toyota, Honda, and Hyundai tend to maintain stronger resale value</a:t>
            </a:r>
            <a:br>
              <a:rPr lang="en-GB"/>
            </a:br>
            <a:endParaRPr/>
          </a:p>
          <a:p>
            <a:pPr marL="457200" lvl="0" indent="-287972" algn="l" rtl="0">
              <a:lnSpc>
                <a:spcPct val="115000"/>
              </a:lnSpc>
              <a:spcBef>
                <a:spcPts val="0"/>
              </a:spcBef>
              <a:spcAft>
                <a:spcPts val="0"/>
              </a:spcAft>
              <a:buSzPct val="52380"/>
              <a:buChar char="●"/>
            </a:pPr>
            <a:r>
              <a:rPr lang="en-GB"/>
              <a:t>Premium locations have noticeably higher average car prices</a:t>
            </a:r>
            <a:br>
              <a:rPr lang="en-GB"/>
            </a:br>
            <a:endParaRPr/>
          </a:p>
          <a:p>
            <a:pPr marL="457200" lvl="0" indent="-287972" algn="l" rtl="0">
              <a:lnSpc>
                <a:spcPct val="115000"/>
              </a:lnSpc>
              <a:spcBef>
                <a:spcPts val="0"/>
              </a:spcBef>
              <a:spcAft>
                <a:spcPts val="0"/>
              </a:spcAft>
              <a:buSzPct val="52380"/>
              <a:buChar char="●"/>
            </a:pPr>
            <a:r>
              <a:rPr lang="en-GB"/>
              <a:t>Used-car market on OLX is highly varied, making data-driven pricing essential</a:t>
            </a:r>
            <a:br>
              <a:rPr lang="en-GB"/>
            </a:br>
            <a:endParaRPr/>
          </a:p>
          <a:p>
            <a:pPr marL="0" lvl="0" indent="0" algn="l" rtl="0">
              <a:spcBef>
                <a:spcPts val="12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156354" y="13691"/>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0000"/>
              </a:buClr>
              <a:buSzPts val="3300"/>
              <a:buFont typeface="Calibri"/>
              <a:buNone/>
            </a:pPr>
            <a:r>
              <a:rPr lang="en-GB" sz="2300" b="1"/>
              <a:t> Experience / Challenges :</a:t>
            </a:r>
            <a:endParaRPr b="1">
              <a:solidFill>
                <a:srgbClr val="FF0000"/>
              </a:solidFill>
            </a:endParaRPr>
          </a:p>
        </p:txBody>
      </p:sp>
      <p:sp>
        <p:nvSpPr>
          <p:cNvPr id="279" name="Google Shape;279;p45"/>
          <p:cNvSpPr txBox="1">
            <a:spLocks noGrp="1"/>
          </p:cNvSpPr>
          <p:nvPr>
            <p:ph type="body" idx="1"/>
          </p:nvPr>
        </p:nvSpPr>
        <p:spPr>
          <a:xfrm>
            <a:off x="470375" y="840825"/>
            <a:ext cx="8301600" cy="3887400"/>
          </a:xfrm>
          <a:prstGeom prst="rect">
            <a:avLst/>
          </a:prstGeom>
          <a:noFill/>
          <a:ln>
            <a:noFill/>
          </a:ln>
        </p:spPr>
        <p:txBody>
          <a:bodyPr spcFirstLastPara="1" wrap="square" lIns="68575" tIns="34275" rIns="68575" bIns="34275" anchor="t" anchorCtr="0">
            <a:noAutofit/>
          </a:bodyPr>
          <a:lstStyle/>
          <a:p>
            <a:pPr marL="457200" lvl="0" indent="-342900" algn="l" rtl="0">
              <a:lnSpc>
                <a:spcPct val="70000"/>
              </a:lnSpc>
              <a:spcBef>
                <a:spcPts val="800"/>
              </a:spcBef>
              <a:spcAft>
                <a:spcPts val="0"/>
              </a:spcAft>
              <a:buSzPts val="1800"/>
              <a:buFont typeface="Arial"/>
              <a:buChar char="•"/>
            </a:pPr>
            <a:r>
              <a:rPr lang="en-GB" sz="1800">
                <a:latin typeface="Arial"/>
                <a:ea typeface="Arial"/>
                <a:cs typeface="Arial"/>
                <a:sym typeface="Arial"/>
              </a:rPr>
              <a:t>Dynamic HTML elements and inconsistent class names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Some listings missing fields like mileage or variant</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Regex required careful tuning because OLX formatting varies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Handling NaN values and converting text → numeric values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Extracting clean data from complicated div structures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Parsing posting dates with different formats</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Ensuring scraper did not get blocked by OLX</a:t>
            </a:r>
            <a:br>
              <a:rPr lang="en-GB" sz="1800">
                <a:latin typeface="Arial"/>
                <a:ea typeface="Arial"/>
                <a:cs typeface="Arial"/>
                <a:sym typeface="Arial"/>
              </a:rPr>
            </a:br>
            <a:endParaRPr sz="1800">
              <a:latin typeface="Arial"/>
              <a:ea typeface="Arial"/>
              <a:cs typeface="Arial"/>
              <a:sym typeface="Arial"/>
            </a:endParaRPr>
          </a:p>
          <a:p>
            <a:pPr marL="457200" lvl="0" indent="-342900" algn="l" rtl="0">
              <a:lnSpc>
                <a:spcPct val="70000"/>
              </a:lnSpc>
              <a:spcBef>
                <a:spcPts val="0"/>
              </a:spcBef>
              <a:spcAft>
                <a:spcPts val="0"/>
              </a:spcAft>
              <a:buSzPts val="1800"/>
              <a:buFont typeface="Arial"/>
              <a:buChar char="•"/>
            </a:pPr>
            <a:r>
              <a:rPr lang="en-GB" sz="1800">
                <a:latin typeface="Arial"/>
                <a:ea typeface="Arial"/>
                <a:cs typeface="Arial"/>
                <a:sym typeface="Arial"/>
              </a:rPr>
              <a:t>Cleaning the data took more time than scraping</a:t>
            </a:r>
            <a:endParaRPr sz="1800">
              <a:latin typeface="Arial"/>
              <a:ea typeface="Arial"/>
              <a:cs typeface="Arial"/>
              <a:sym typeface="Arial"/>
            </a:endParaRPr>
          </a:p>
          <a:p>
            <a:pPr marL="457200" lvl="0" indent="0" algn="l" rtl="0">
              <a:lnSpc>
                <a:spcPct val="70000"/>
              </a:lnSpc>
              <a:spcBef>
                <a:spcPts val="800"/>
              </a:spcBef>
              <a:spcAft>
                <a:spcPts val="0"/>
              </a:spcAft>
              <a:buNone/>
            </a:pPr>
            <a:endParaRPr sz="18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46"/>
          <p:cNvPicPr preferRelativeResize="0"/>
          <p:nvPr/>
        </p:nvPicPr>
        <p:blipFill rotWithShape="1">
          <a:blip r:embed="rId3">
            <a:alphaModFix/>
          </a:blip>
          <a:srcRect/>
          <a:stretch/>
        </p:blipFill>
        <p:spPr>
          <a:xfrm>
            <a:off x="4849887" y="1388062"/>
            <a:ext cx="3349232" cy="2125738"/>
          </a:xfrm>
          <a:prstGeom prst="rect">
            <a:avLst/>
          </a:prstGeom>
          <a:noFill/>
          <a:ln>
            <a:noFill/>
          </a:ln>
        </p:spPr>
      </p:pic>
      <p:sp>
        <p:nvSpPr>
          <p:cNvPr id="285" name="Google Shape;285;p46"/>
          <p:cNvSpPr txBox="1"/>
          <p:nvPr/>
        </p:nvSpPr>
        <p:spPr>
          <a:xfrm>
            <a:off x="933450" y="2247900"/>
            <a:ext cx="2746377" cy="577081"/>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C00000"/>
              </a:buClr>
              <a:buSzPts val="3300"/>
              <a:buFont typeface="Libre Baskerville"/>
              <a:buNone/>
            </a:pPr>
            <a:r>
              <a:rPr lang="en-GB" sz="3300" b="0" i="0" u="none" strike="noStrike" cap="none">
                <a:solidFill>
                  <a:srgbClr val="C00000"/>
                </a:solidFill>
                <a:latin typeface="Libre Baskerville"/>
                <a:ea typeface="Libre Baskerville"/>
                <a:cs typeface="Libre Baskerville"/>
                <a:sym typeface="Libre Baskerville"/>
              </a:rPr>
              <a:t>THANK YOU</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2007</Words>
  <Application>Microsoft Office PowerPoint</Application>
  <PresentationFormat>On-screen Show (16:9)</PresentationFormat>
  <Paragraphs>192</Paragraphs>
  <Slides>22</Slides>
  <Notes>21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Times New Roman</vt:lpstr>
      <vt:lpstr>Calibri</vt:lpstr>
      <vt:lpstr>Roboto Mono</vt:lpstr>
      <vt:lpstr>Arial</vt:lpstr>
      <vt:lpstr>Lato Black</vt:lpstr>
      <vt:lpstr>Libre Baskerville</vt:lpstr>
      <vt:lpstr>Simple Light</vt:lpstr>
      <vt:lpstr>Office Theme</vt:lpstr>
      <vt:lpstr>PowerPoint Presentation</vt:lpstr>
      <vt:lpstr>About me :  </vt:lpstr>
      <vt:lpstr>Objective of the Project :</vt:lpstr>
      <vt:lpstr>Process we followed :</vt:lpstr>
      <vt:lpstr>Collected information :</vt:lpstr>
      <vt:lpstr>Data Cleaning Steps:</vt:lpstr>
      <vt:lpstr>PowerPoint Presentation</vt:lpstr>
      <vt:lpstr>Data Manipulation Steps :</vt:lpstr>
      <vt:lpstr>Univariate Analysis Steps : Distribution of car prices(Numerical (Continuous) -&gt; Numerical (Discrete))</vt:lpstr>
      <vt:lpstr> Number of models per year( Numerical (Discrete) -&gt;Numerical (Discrete))</vt:lpstr>
      <vt:lpstr> Engine type distribution(Numerical (Continuous) )</vt:lpstr>
      <vt:lpstr> Trip KM outlier check(Numerical (Continuous))</vt:lpstr>
      <vt:lpstr>Bivariate Analysis Steps : Price and Model year(Numerical (Continuous) - Numerical (Discrete))</vt:lpstr>
      <vt:lpstr> Price and Total trip(Numerical (Continuous) -  Numerical (Continuous))</vt:lpstr>
      <vt:lpstr> Price and Engine Type(Numerical (Continuous) - Categorical (Petrol, Diesel, Hybrid))</vt:lpstr>
      <vt:lpstr> Price and Transmission(Numerical (Continuous) -&gt;Categorical (Manual, Automatic))</vt:lpstr>
      <vt:lpstr> Counts of cars based on transmission(Numerical (Discrete)- Categorical (Manual, Automatic, --) )</vt:lpstr>
      <vt:lpstr> Multivariate analysis -&gt; Heatmap  (Price: Numerical (Continuous),Total_trip: Numerical (Continuous),Model_Year: Numerical (Discrete),Owner: Numerical (Discrete))</vt:lpstr>
      <vt:lpstr>Key Business Question</vt:lpstr>
      <vt:lpstr>Conclusion:</vt:lpstr>
      <vt:lpstr> Experience / Challenges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Harshavardhan</dc:creator>
  <cp:lastModifiedBy>harsha vardhan</cp:lastModifiedBy>
  <cp:revision>2</cp:revision>
  <dcterms:modified xsi:type="dcterms:W3CDTF">2026-03-26T10:50:38Z</dcterms:modified>
</cp:coreProperties>
</file>